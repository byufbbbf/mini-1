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94" r:id="rId2"/>
    <p:sldId id="257" r:id="rId3"/>
    <p:sldId id="258" r:id="rId4"/>
    <p:sldId id="278" r:id="rId5"/>
    <p:sldId id="334" r:id="rId6"/>
    <p:sldId id="335" r:id="rId7"/>
    <p:sldId id="336" r:id="rId8"/>
    <p:sldId id="312" r:id="rId9"/>
    <p:sldId id="337" r:id="rId10"/>
    <p:sldId id="338" r:id="rId11"/>
    <p:sldId id="313" r:id="rId12"/>
    <p:sldId id="339" r:id="rId13"/>
    <p:sldId id="340" r:id="rId14"/>
    <p:sldId id="341" r:id="rId15"/>
    <p:sldId id="342" r:id="rId16"/>
    <p:sldId id="343" r:id="rId17"/>
    <p:sldId id="344" r:id="rId18"/>
    <p:sldId id="345" r:id="rId19"/>
    <p:sldId id="292" r:id="rId20"/>
    <p:sldId id="346" r:id="rId21"/>
    <p:sldId id="347" r:id="rId22"/>
    <p:sldId id="327" r:id="rId23"/>
    <p:sldId id="314" r:id="rId24"/>
    <p:sldId id="315" r:id="rId25"/>
    <p:sldId id="331"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755159-AB4D-FBBC-B652-7F22A1403D08}" name="ashutosh satapathy" initials="as" userId="d35908ac1f75030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78" d="100"/>
          <a:sy n="78" d="100"/>
        </p:scale>
        <p:origin x="1373"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727E3-9991-4B0C-8167-23E35F3043C3}" type="datetimeFigureOut">
              <a:rPr lang="en-US" smtClean="0"/>
              <a:pPr/>
              <a:t>12/18/2024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B3C13F-8C70-4967-B114-F8782C3B91C0}" type="slidenum">
              <a:rPr lang="en-US" smtClean="0"/>
              <a:pPr/>
              <a:t>‹#›</a:t>
            </a:fld>
            <a:endParaRPr lang="en-US"/>
          </a:p>
        </p:txBody>
      </p:sp>
    </p:spTree>
    <p:extLst>
      <p:ext uri="{BB962C8B-B14F-4D97-AF65-F5344CB8AC3E}">
        <p14:creationId xmlns:p14="http://schemas.microsoft.com/office/powerpoint/2010/main" val="4196010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8" name="Google Shape;9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6242B5CD-A156-C6E8-03A5-C88E7FAAA766}"/>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0EBC7518-4ECC-5C89-FF84-8773CAA81A2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94033FF8-8AF6-8BF6-BF37-3ECE7738219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4478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0CAD9265-A123-08D6-29D2-8AE39043BBB9}"/>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D20CCFE3-8AA0-673C-DD35-1F133F67AF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8EA84260-CEFB-AA35-F4BA-736D2FEA69B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9100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E50D3A26-B27E-CDAC-5178-EFB5E4182E17}"/>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433C0C2B-00A8-C489-A644-F84108F0DD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a:extLst>
              <a:ext uri="{FF2B5EF4-FFF2-40B4-BE49-F238E27FC236}">
                <a16:creationId xmlns:a16="http://schemas.microsoft.com/office/drawing/2014/main" id="{7A4A4F0E-49DC-E6A3-00D3-CD0A38DBF0A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9881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A605C404-F48A-FA36-3DAA-69897E919F0E}"/>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3E4321D1-257A-EC6E-398C-228F2C0604D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9" name="Google Shape;119;p5:notes">
            <a:extLst>
              <a:ext uri="{FF2B5EF4-FFF2-40B4-BE49-F238E27FC236}">
                <a16:creationId xmlns:a16="http://schemas.microsoft.com/office/drawing/2014/main" id="{B617C01E-7525-DE8F-44C7-F4C4329ABEC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161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C44DD6F8-40C7-6792-FE2D-374063C4DAA8}"/>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1698CE3A-0509-7AC8-80B6-B23FB9D443A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a:extLst>
              <a:ext uri="{FF2B5EF4-FFF2-40B4-BE49-F238E27FC236}">
                <a16:creationId xmlns:a16="http://schemas.microsoft.com/office/drawing/2014/main" id="{77647D38-8CAD-5C9A-1432-D4751C60C6C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6831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4C5BAC86-6643-03BF-D67E-EFA3800063E4}"/>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F7596481-1335-54B6-FF02-B9D465FEA3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a:extLst>
              <a:ext uri="{FF2B5EF4-FFF2-40B4-BE49-F238E27FC236}">
                <a16:creationId xmlns:a16="http://schemas.microsoft.com/office/drawing/2014/main" id="{F6F3FB3B-EFE9-4208-6B92-FDD08C58D2B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6001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A0B8EDD0-7BF5-7F64-E2E3-9AE4344A3752}"/>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F20DBFC8-5E10-C106-2B5A-3E8E229A24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a:extLst>
              <a:ext uri="{FF2B5EF4-FFF2-40B4-BE49-F238E27FC236}">
                <a16:creationId xmlns:a16="http://schemas.microsoft.com/office/drawing/2014/main" id="{5F9B731A-B01E-0486-D8F7-C0A0AAF04AF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3663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7E5AD5B1-D2E8-E266-F84F-35F766B3FCCE}"/>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B7E3C5FD-DF33-1C0E-3605-DFDF1429B50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9" name="Google Shape;119;p5:notes">
            <a:extLst>
              <a:ext uri="{FF2B5EF4-FFF2-40B4-BE49-F238E27FC236}">
                <a16:creationId xmlns:a16="http://schemas.microsoft.com/office/drawing/2014/main" id="{E48B47E6-B769-84E6-0D21-6242FE7B784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8950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01B67409-50C4-1C2E-1411-058506051007}"/>
            </a:ext>
          </a:extLst>
        </p:cNvPr>
        <p:cNvGrpSpPr/>
        <p:nvPr/>
      </p:nvGrpSpPr>
      <p:grpSpPr>
        <a:xfrm>
          <a:off x="0" y="0"/>
          <a:ext cx="0" cy="0"/>
          <a:chOff x="0" y="0"/>
          <a:chExt cx="0" cy="0"/>
        </a:xfrm>
      </p:grpSpPr>
      <p:sp>
        <p:nvSpPr>
          <p:cNvPr id="118" name="Google Shape;118;p5:notes">
            <a:extLst>
              <a:ext uri="{FF2B5EF4-FFF2-40B4-BE49-F238E27FC236}">
                <a16:creationId xmlns:a16="http://schemas.microsoft.com/office/drawing/2014/main" id="{AF2D4B08-7D3C-5C2D-FFAE-88163F587B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9" name="Google Shape;119;p5:notes">
            <a:extLst>
              <a:ext uri="{FF2B5EF4-FFF2-40B4-BE49-F238E27FC236}">
                <a16:creationId xmlns:a16="http://schemas.microsoft.com/office/drawing/2014/main" id="{C4C7BD19-4833-FA48-0F00-C2A4952AA6E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7010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7132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052F28A-5B8B-34B3-F69F-1B1C0AD7E66F}"/>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1969C09D-5E54-5C2C-1774-C736BA495AE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37E760CC-6DC3-D31D-5E44-404D19605C3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6366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39DF2FAD-E047-7321-9EEB-FC53C59032CE}"/>
            </a:ext>
          </a:extLst>
        </p:cNvPr>
        <p:cNvGrpSpPr/>
        <p:nvPr/>
      </p:nvGrpSpPr>
      <p:grpSpPr>
        <a:xfrm>
          <a:off x="0" y="0"/>
          <a:ext cx="0" cy="0"/>
          <a:chOff x="0" y="0"/>
          <a:chExt cx="0" cy="0"/>
        </a:xfrm>
      </p:grpSpPr>
      <p:sp>
        <p:nvSpPr>
          <p:cNvPr id="111" name="Google Shape;111;p4:notes">
            <a:extLst>
              <a:ext uri="{FF2B5EF4-FFF2-40B4-BE49-F238E27FC236}">
                <a16:creationId xmlns:a16="http://schemas.microsoft.com/office/drawing/2014/main" id="{580F3857-5661-47D8-39EF-BC019432626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a:extLst>
              <a:ext uri="{FF2B5EF4-FFF2-40B4-BE49-F238E27FC236}">
                <a16:creationId xmlns:a16="http://schemas.microsoft.com/office/drawing/2014/main" id="{84415CAB-5640-B76E-9D81-33B695D9102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7930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92" name="Google Shape;692;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a:extLst>
            <a:ext uri="{FF2B5EF4-FFF2-40B4-BE49-F238E27FC236}">
              <a16:creationId xmlns:a16="http://schemas.microsoft.com/office/drawing/2014/main" id="{56B8D244-109F-A7B8-BCEA-845CD910BB84}"/>
            </a:ext>
          </a:extLst>
        </p:cNvPr>
        <p:cNvGrpSpPr/>
        <p:nvPr/>
      </p:nvGrpSpPr>
      <p:grpSpPr>
        <a:xfrm>
          <a:off x="0" y="0"/>
          <a:ext cx="0" cy="0"/>
          <a:chOff x="0" y="0"/>
          <a:chExt cx="0" cy="0"/>
        </a:xfrm>
      </p:grpSpPr>
      <p:sp>
        <p:nvSpPr>
          <p:cNvPr id="691" name="Google Shape;691;p35:notes">
            <a:extLst>
              <a:ext uri="{FF2B5EF4-FFF2-40B4-BE49-F238E27FC236}">
                <a16:creationId xmlns:a16="http://schemas.microsoft.com/office/drawing/2014/main" id="{FA8C11C4-4E38-D344-8F1C-AA800981E41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2" name="Google Shape;692;p35:notes">
            <a:extLst>
              <a:ext uri="{FF2B5EF4-FFF2-40B4-BE49-F238E27FC236}">
                <a16:creationId xmlns:a16="http://schemas.microsoft.com/office/drawing/2014/main" id="{47721628-BA3A-BA6F-1128-E3140C2CB21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5461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6A3A6F-B049-4A3C-A314-6C5DC6ABA413}" type="datetime1">
              <a:rPr lang="en-US" smtClean="0"/>
              <a:pPr/>
              <a:t>12/18/2024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4217684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0A0579-E4EA-4069-8E9E-A5661942CE83}" type="datetime1">
              <a:rPr lang="en-US" smtClean="0"/>
              <a:pPr/>
              <a:t>12/18/2024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3203546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BAC4A0-A0AB-494A-9349-6940CE23F0BB}" type="datetime1">
              <a:rPr lang="en-US" smtClean="0"/>
              <a:pPr/>
              <a:t>12/18/2024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2522349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09F13F-E3C0-47E7-81E7-2D67CDFD97CE}" type="datetime1">
              <a:rPr lang="en-US" smtClean="0"/>
              <a:pPr/>
              <a:t>12/18/2024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2258336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CB4F48-C21C-4E8E-AA43-BB8E3BD2F306}" type="datetime1">
              <a:rPr lang="en-US" smtClean="0"/>
              <a:pPr/>
              <a:t>12/18/2024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533100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90D7BC-B940-4993-A11F-8FBB77BA204E}" type="datetime1">
              <a:rPr lang="en-US" smtClean="0"/>
              <a:pPr/>
              <a:t>12/18/2024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398187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094854-92A4-4BB6-9F1F-69BBC71788FF}" type="datetime1">
              <a:rPr lang="en-US" smtClean="0"/>
              <a:pPr/>
              <a:t>12/18/2024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1844546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C6CBDC-D391-4FA9-8D6F-9BC119CA0B97}" type="datetime1">
              <a:rPr lang="en-US" smtClean="0"/>
              <a:pPr/>
              <a:t>12/18/2024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493602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9F212E-DE5B-4D49-B277-6F5AF26D6AF0}" type="datetime1">
              <a:rPr lang="en-US" smtClean="0"/>
              <a:pPr/>
              <a:t>12/18/2024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1731351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0F1400-0AF8-4881-9500-1BCE077EF02C}" type="datetime1">
              <a:rPr lang="en-US" smtClean="0"/>
              <a:pPr/>
              <a:t>12/18/2024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4165504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520AC9-8025-43C3-9D7A-B30453D05E68}" type="datetime1">
              <a:rPr lang="en-US" smtClean="0"/>
              <a:pPr/>
              <a:t>12/18/2024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2716315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5C9A0F-356B-4543-BBC4-6729314C25D3}" type="datetime1">
              <a:rPr lang="en-US" smtClean="0"/>
              <a:pPr/>
              <a:t>12/18/2024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0542D4-23E8-43E0-BA8E-C972DA1A005D}" type="slidenum">
              <a:rPr lang="en-US" smtClean="0"/>
              <a:pPr/>
              <a:t>‹#›</a:t>
            </a:fld>
            <a:endParaRPr lang="en-US"/>
          </a:p>
        </p:txBody>
      </p:sp>
    </p:spTree>
    <p:extLst>
      <p:ext uri="{BB962C8B-B14F-4D97-AF65-F5344CB8AC3E}">
        <p14:creationId xmlns:p14="http://schemas.microsoft.com/office/powerpoint/2010/main" val="20317206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7256" y="899065"/>
            <a:ext cx="8529486" cy="1343999"/>
          </a:xfrm>
        </p:spPr>
        <p:txBody>
          <a:bodyPr>
            <a:noAutofit/>
          </a:bodyPr>
          <a:lstStyle/>
          <a:p>
            <a:r>
              <a:rPr lang="en-US" sz="2800" b="1" dirty="0">
                <a:solidFill>
                  <a:srgbClr val="0070C0"/>
                </a:solidFill>
                <a:latin typeface="Times New Roman" panose="02020603050405020304" pitchFamily="18" charset="0"/>
                <a:cs typeface="Times New Roman" panose="02020603050405020304" pitchFamily="18" charset="0"/>
                <a:sym typeface="Lustria"/>
              </a:rPr>
              <a:t>9th International Conference on Micro-Electronics, Electromagnetics and Telecommunications</a:t>
            </a:r>
            <a:endParaRPr lang="en-US" sz="2800" b="1" dirty="0">
              <a:solidFill>
                <a:schemeClr val="accent1"/>
              </a:solidFill>
              <a:latin typeface="Times New Roman" panose="02020603050405020304" pitchFamily="18" charset="0"/>
              <a:cs typeface="Times New Roman" panose="02020603050405020304" pitchFamily="18" charset="0"/>
            </a:endParaRPr>
          </a:p>
        </p:txBody>
      </p:sp>
      <p:sp>
        <p:nvSpPr>
          <p:cNvPr id="4" name="Subtitle 2"/>
          <p:cNvSpPr txBox="1"/>
          <p:nvPr/>
        </p:nvSpPr>
        <p:spPr>
          <a:xfrm>
            <a:off x="4794885" y="4729480"/>
            <a:ext cx="4178300" cy="200723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latin typeface="Times New Roman" panose="02020603050405020304" charset="0"/>
              <a:cs typeface="Times New Roman" panose="02020603050405020304" charset="0"/>
            </a:endParaRPr>
          </a:p>
        </p:txBody>
      </p:sp>
      <p:sp>
        <p:nvSpPr>
          <p:cNvPr id="6" name="Title 1"/>
          <p:cNvSpPr txBox="1"/>
          <p:nvPr/>
        </p:nvSpPr>
        <p:spPr>
          <a:xfrm>
            <a:off x="685800" y="5733097"/>
            <a:ext cx="7772400" cy="79127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1500"/>
              </a:spcAft>
            </a:pPr>
            <a:r>
              <a:rPr lang="en-US" sz="1800" b="1" dirty="0">
                <a:solidFill>
                  <a:schemeClr val="tx2">
                    <a:lumMod val="50000"/>
                  </a:schemeClr>
                </a:solidFill>
                <a:latin typeface="Times New Roman" panose="02020603050405020304" pitchFamily="18" charset="0"/>
                <a:cs typeface="Times New Roman" panose="02020603050405020304" pitchFamily="18" charset="0"/>
              </a:rPr>
              <a:t>Paper Title: </a:t>
            </a:r>
            <a:r>
              <a:rPr lang="en-US" sz="1800" b="1" kern="1400" spc="25" dirty="0">
                <a:solidFill>
                  <a:srgbClr val="17365D"/>
                </a:solidFill>
                <a:effectLst/>
                <a:latin typeface="Calibri" panose="020F0502020204030204" pitchFamily="34" charset="0"/>
                <a:ea typeface="MS Gothic" panose="020B0609070205080204" pitchFamily="49" charset="-128"/>
                <a:cs typeface="Times New Roman" panose="02020603050405020304" pitchFamily="18" charset="0"/>
              </a:rPr>
              <a:t>Detection of Cardiovascular Disease by ECG Images Using LSTM</a:t>
            </a:r>
            <a:endParaRPr lang="en-IN" sz="1800" kern="1400" spc="25" dirty="0">
              <a:solidFill>
                <a:srgbClr val="17365D"/>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50000"/>
              </a:lnSpc>
            </a:pPr>
            <a:r>
              <a:rPr lang="en-US" sz="1800" b="1" dirty="0">
                <a:solidFill>
                  <a:schemeClr val="tx2">
                    <a:lumMod val="50000"/>
                  </a:schemeClr>
                </a:solidFill>
                <a:latin typeface="Times New Roman" panose="02020603050405020304" pitchFamily="18" charset="0"/>
                <a:cs typeface="Times New Roman" panose="02020603050405020304" pitchFamily="18" charset="0"/>
              </a:rPr>
              <a:t>Authors: S. Rajesh, </a:t>
            </a:r>
            <a:r>
              <a:rPr lang="en-US" sz="1800" b="1" dirty="0" err="1">
                <a:solidFill>
                  <a:schemeClr val="tx2">
                    <a:lumMod val="50000"/>
                  </a:schemeClr>
                </a:solidFill>
                <a:latin typeface="Times New Roman" panose="02020603050405020304" pitchFamily="18" charset="0"/>
                <a:cs typeface="Times New Roman" panose="02020603050405020304" pitchFamily="18" charset="0"/>
              </a:rPr>
              <a:t>Meeniga</a:t>
            </a:r>
            <a:r>
              <a:rPr lang="en-US" sz="1800" b="1" dirty="0">
                <a:solidFill>
                  <a:schemeClr val="tx2">
                    <a:lumMod val="50000"/>
                  </a:schemeClr>
                </a:solidFill>
                <a:latin typeface="Times New Roman" panose="02020603050405020304" pitchFamily="18" charset="0"/>
                <a:cs typeface="Times New Roman" panose="02020603050405020304" pitchFamily="18" charset="0"/>
              </a:rPr>
              <a:t> Nandini, </a:t>
            </a:r>
            <a:r>
              <a:rPr lang="en-US" sz="1800" b="1" dirty="0" err="1">
                <a:solidFill>
                  <a:schemeClr val="tx2">
                    <a:lumMod val="50000"/>
                  </a:schemeClr>
                </a:solidFill>
                <a:latin typeface="Times New Roman" panose="02020603050405020304" pitchFamily="18" charset="0"/>
                <a:cs typeface="Times New Roman" panose="02020603050405020304" pitchFamily="18" charset="0"/>
              </a:rPr>
              <a:t>Medagam</a:t>
            </a:r>
            <a:r>
              <a:rPr lang="en-US" sz="1800" b="1" dirty="0">
                <a:solidFill>
                  <a:schemeClr val="tx2">
                    <a:lumMod val="50000"/>
                  </a:schemeClr>
                </a:solidFill>
                <a:latin typeface="Times New Roman" panose="02020603050405020304" pitchFamily="18" charset="0"/>
                <a:cs typeface="Times New Roman" panose="02020603050405020304" pitchFamily="18" charset="0"/>
              </a:rPr>
              <a:t> </a:t>
            </a:r>
            <a:r>
              <a:rPr lang="en-US" sz="1800" b="1" dirty="0" err="1">
                <a:solidFill>
                  <a:schemeClr val="tx2">
                    <a:lumMod val="50000"/>
                  </a:schemeClr>
                </a:solidFill>
                <a:latin typeface="Times New Roman" panose="02020603050405020304" pitchFamily="18" charset="0"/>
                <a:cs typeface="Times New Roman" panose="02020603050405020304" pitchFamily="18" charset="0"/>
              </a:rPr>
              <a:t>Rahithya</a:t>
            </a:r>
            <a:r>
              <a:rPr lang="en-US" sz="1800" b="1" dirty="0">
                <a:solidFill>
                  <a:schemeClr val="tx2">
                    <a:lumMod val="50000"/>
                  </a:schemeClr>
                </a:solidFill>
                <a:latin typeface="Times New Roman" panose="02020603050405020304" pitchFamily="18" charset="0"/>
                <a:cs typeface="Times New Roman" panose="02020603050405020304" pitchFamily="18" charset="0"/>
              </a:rPr>
              <a:t>, </a:t>
            </a:r>
            <a:r>
              <a:rPr lang="en-US" sz="1800" b="1" dirty="0" err="1">
                <a:solidFill>
                  <a:schemeClr val="tx2">
                    <a:lumMod val="50000"/>
                  </a:schemeClr>
                </a:solidFill>
                <a:latin typeface="Times New Roman" panose="02020603050405020304" pitchFamily="18" charset="0"/>
                <a:cs typeface="Times New Roman" panose="02020603050405020304" pitchFamily="18" charset="0"/>
              </a:rPr>
              <a:t>P.Naga</a:t>
            </a:r>
            <a:r>
              <a:rPr lang="en-US" sz="1800" b="1" dirty="0">
                <a:solidFill>
                  <a:schemeClr val="tx2">
                    <a:lumMod val="50000"/>
                  </a:schemeClr>
                </a:solidFill>
                <a:latin typeface="Times New Roman" panose="02020603050405020304" pitchFamily="18" charset="0"/>
                <a:cs typeface="Times New Roman" panose="02020603050405020304" pitchFamily="18" charset="0"/>
              </a:rPr>
              <a:t> Lokesh</a:t>
            </a:r>
          </a:p>
          <a:p>
            <a:pPr>
              <a:lnSpc>
                <a:spcPct val="150000"/>
              </a:lnSpc>
            </a:pPr>
            <a:r>
              <a:rPr lang="en-US" sz="1800" b="1" dirty="0">
                <a:solidFill>
                  <a:schemeClr val="tx2">
                    <a:lumMod val="50000"/>
                  </a:schemeClr>
                </a:solidFill>
                <a:latin typeface="Times New Roman" panose="02020603050405020304" pitchFamily="18" charset="0"/>
                <a:cs typeface="Times New Roman" panose="02020603050405020304" pitchFamily="18" charset="0"/>
              </a:rPr>
              <a:t>Presenter: </a:t>
            </a:r>
            <a:r>
              <a:rPr lang="en-US" sz="1800" b="1" dirty="0" err="1">
                <a:solidFill>
                  <a:schemeClr val="tx2">
                    <a:lumMod val="50000"/>
                  </a:schemeClr>
                </a:solidFill>
                <a:latin typeface="Times New Roman" panose="02020603050405020304" pitchFamily="18" charset="0"/>
                <a:cs typeface="Times New Roman" panose="02020603050405020304" pitchFamily="18" charset="0"/>
              </a:rPr>
              <a:t>Meeniga</a:t>
            </a:r>
            <a:r>
              <a:rPr lang="en-US" sz="1800" b="1" dirty="0">
                <a:solidFill>
                  <a:schemeClr val="tx2">
                    <a:lumMod val="50000"/>
                  </a:schemeClr>
                </a:solidFill>
                <a:latin typeface="Times New Roman" panose="02020603050405020304" pitchFamily="18" charset="0"/>
                <a:cs typeface="Times New Roman" panose="02020603050405020304" pitchFamily="18" charset="0"/>
              </a:rPr>
              <a:t> Nandini</a:t>
            </a:r>
          </a:p>
          <a:p>
            <a:pPr>
              <a:lnSpc>
                <a:spcPct val="150000"/>
              </a:lnSpc>
            </a:pPr>
            <a:r>
              <a:rPr lang="en-US" sz="1800" b="1" dirty="0">
                <a:solidFill>
                  <a:schemeClr val="tx2">
                    <a:lumMod val="50000"/>
                  </a:schemeClr>
                </a:solidFill>
                <a:latin typeface="Times New Roman" panose="02020603050405020304" pitchFamily="18" charset="0"/>
                <a:cs typeface="Times New Roman" panose="02020603050405020304" pitchFamily="18" charset="0"/>
              </a:rPr>
              <a:t>Date: 20-12-2024</a:t>
            </a:r>
          </a:p>
        </p:txBody>
      </p:sp>
      <p:sp>
        <p:nvSpPr>
          <p:cNvPr id="7" name="Title 1"/>
          <p:cNvSpPr txBox="1"/>
          <p:nvPr/>
        </p:nvSpPr>
        <p:spPr>
          <a:xfrm>
            <a:off x="867341" y="1011026"/>
            <a:ext cx="7126664" cy="112599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2000" b="1" dirty="0">
              <a:latin typeface="Times New Roman" panose="02020603050405020304" pitchFamily="18" charset="0"/>
              <a:cs typeface="Times New Roman" panose="02020603050405020304" pitchFamily="18" charset="0"/>
            </a:endParaRPr>
          </a:p>
        </p:txBody>
      </p:sp>
      <p:sp>
        <p:nvSpPr>
          <p:cNvPr id="16" name="Slide Number Placeholder 15"/>
          <p:cNvSpPr>
            <a:spLocks noGrp="1"/>
          </p:cNvSpPr>
          <p:nvPr>
            <p:ph type="sldNum" sz="quarter" idx="12"/>
          </p:nvPr>
        </p:nvSpPr>
        <p:spPr/>
        <p:txBody>
          <a:bodyPr/>
          <a:lstStyle/>
          <a:p>
            <a:fld id="{D90542D4-23E8-43E0-BA8E-C972DA1A005D}" type="slidenum">
              <a:rPr lang="en-US" smtClean="0"/>
              <a:t>1</a:t>
            </a:fld>
            <a:endParaRPr lang="en-US" dirty="0"/>
          </a:p>
        </p:txBody>
      </p:sp>
      <p:sp>
        <p:nvSpPr>
          <p:cNvPr id="8" name="Google Shape;166;p1">
            <a:extLst>
              <a:ext uri="{FF2B5EF4-FFF2-40B4-BE49-F238E27FC236}">
                <a16:creationId xmlns:a16="http://schemas.microsoft.com/office/drawing/2014/main" id="{E6653873-4300-BC9E-6B87-6BAF41B65C08}"/>
              </a:ext>
            </a:extLst>
          </p:cNvPr>
          <p:cNvSpPr txBox="1"/>
          <p:nvPr/>
        </p:nvSpPr>
        <p:spPr>
          <a:xfrm>
            <a:off x="3414798" y="3726491"/>
            <a:ext cx="2587287" cy="523180"/>
          </a:xfrm>
          <a:prstGeom prst="rect">
            <a:avLst/>
          </a:prstGeom>
          <a:gradFill>
            <a:gsLst>
              <a:gs pos="0">
                <a:srgbClr val="70A5DA"/>
              </a:gs>
              <a:gs pos="50000">
                <a:srgbClr val="539BDB"/>
              </a:gs>
              <a:gs pos="100000">
                <a:srgbClr val="4288C8"/>
              </a:gs>
            </a:gsLst>
            <a:lin ang="5400000" scaled="0"/>
          </a:gradFill>
          <a:ln>
            <a:noFill/>
          </a:ln>
          <a:effectLst>
            <a:outerShdw blurRad="57150" dist="19050" dir="5400000" algn="ctr" rotWithShape="0">
              <a:srgbClr val="000000">
                <a:alpha val="62352"/>
              </a:srgbClr>
            </a:outerShdw>
          </a:effectLst>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2800"/>
              <a:buFont typeface="Arial"/>
              <a:buNone/>
            </a:pPr>
            <a:r>
              <a:rPr lang="en-IN" sz="2800" b="0" i="0" u="none" strike="noStrike" cap="none" dirty="0">
                <a:solidFill>
                  <a:schemeClr val="lt1"/>
                </a:solidFill>
                <a:latin typeface="Calibri"/>
                <a:ea typeface="Calibri"/>
                <a:cs typeface="Calibri"/>
                <a:sym typeface="Calibri"/>
              </a:rPr>
              <a:t>Paper ID : 186</a:t>
            </a:r>
            <a:endParaRPr sz="1400" b="0" i="0" u="none" strike="noStrike" cap="none" dirty="0">
              <a:solidFill>
                <a:srgbClr val="000000"/>
              </a:solidFill>
              <a:latin typeface="Arial"/>
              <a:ea typeface="Arial"/>
              <a:cs typeface="Arial"/>
              <a:sym typeface="Arial"/>
            </a:endParaRPr>
          </a:p>
        </p:txBody>
      </p:sp>
      <p:pic>
        <p:nvPicPr>
          <p:cNvPr id="10" name="Picture 9">
            <a:extLst>
              <a:ext uri="{FF2B5EF4-FFF2-40B4-BE49-F238E27FC236}">
                <a16:creationId xmlns:a16="http://schemas.microsoft.com/office/drawing/2014/main" id="{89C4F9F7-F17C-2FF1-7105-9C1C2C326B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1655" y="2486793"/>
            <a:ext cx="2804680" cy="866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title"/>
          </p:nvPr>
        </p:nvSpPr>
        <p:spPr>
          <a:xfrm>
            <a:off x="0" y="0"/>
            <a:ext cx="8515350" cy="7402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833C0B"/>
              </a:buClr>
              <a:buSzPts val="3400"/>
              <a:buFont typeface="Lustria"/>
              <a:buNone/>
            </a:pPr>
            <a:r>
              <a:rPr lang="en-US" sz="3400" b="1" dirty="0">
                <a:solidFill>
                  <a:srgbClr val="833C0B"/>
                </a:solidFill>
                <a:latin typeface="Calisto MT" panose="02040603050505030304" pitchFamily="18" charset="0"/>
                <a:ea typeface="Lustria"/>
                <a:cs typeface="Lustria"/>
                <a:sym typeface="Lustria"/>
              </a:rPr>
              <a:t>Abstract</a:t>
            </a:r>
            <a:endParaRPr dirty="0">
              <a:latin typeface="Calisto MT" panose="02040603050505030304" pitchFamily="18" charset="0"/>
            </a:endParaRPr>
          </a:p>
        </p:txBody>
      </p:sp>
      <p:sp>
        <p:nvSpPr>
          <p:cNvPr id="101" name="Google Shape;101;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2</a:t>
            </a:fld>
            <a:endParaRPr sz="1400" b="1">
              <a:solidFill>
                <a:schemeClr val="dk1"/>
              </a:solidFill>
              <a:latin typeface="Calisto MT" panose="02040603050505030304" pitchFamily="18" charset="0"/>
              <a:ea typeface="Lustria"/>
              <a:cs typeface="Lustria"/>
              <a:sym typeface="Lustria"/>
            </a:endParaRPr>
          </a:p>
        </p:txBody>
      </p:sp>
      <p:sp>
        <p:nvSpPr>
          <p:cNvPr id="3" name="TextBox 2">
            <a:extLst>
              <a:ext uri="{FF2B5EF4-FFF2-40B4-BE49-F238E27FC236}">
                <a16:creationId xmlns:a16="http://schemas.microsoft.com/office/drawing/2014/main" id="{8D93FDF7-EB7A-80DE-4326-ED5CFCF8E142}"/>
              </a:ext>
            </a:extLst>
          </p:cNvPr>
          <p:cNvSpPr txBox="1"/>
          <p:nvPr/>
        </p:nvSpPr>
        <p:spPr>
          <a:xfrm>
            <a:off x="430687" y="740229"/>
            <a:ext cx="7717328" cy="5047536"/>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Through the analysis of electrocardiogram (ECG) images, this study explores the application of machine learning and deep learning techniques for the early identification of cardiovascular illnesses. We evaluate the efficacy of conventional algorithms and cutting-edge deep learning techniques using a variety of datasets, preprocessing techniques, and feature extraction approaches model like the LSTM. While robustness is ensured by validation on separate datasets, the application of transfer learning improves model generalization. A focus on interpretability seeks to promote clinical acceptance, which is essential for incorporating new techniques into standard medical procedures. Overall, this study shows how these methods have the potential to transform the diagnosis of cardiovascular disease, allowing for prompt interventions and ultimately leading to better patient outcomes. Additionally, by permitting preemptive therapies, this interdisciplinary approach holds promise for revolutionizing cardiovascular healthcare.</a:t>
            </a:r>
            <a:endParaRPr lang="en-US"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Keywords:</a:t>
            </a:r>
            <a:r>
              <a:rPr lang="en-IN" dirty="0">
                <a:latin typeface="Times New Roman" panose="02020603050405020304" pitchFamily="18" charset="0"/>
                <a:cs typeface="Times New Roman" panose="02020603050405020304" pitchFamily="18" charset="0"/>
              </a:rPr>
              <a:t>Cardiovascular disease, Diagnosis, Machine learning, Deep learning, Electrocardiogram (ECG),LSTM</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405352" y="120030"/>
            <a:ext cx="7886700" cy="549273"/>
          </a:xfrm>
        </p:spPr>
        <p:txBody>
          <a:bodyPr>
            <a:normAutofit fontScale="90000"/>
          </a:bodyPr>
          <a:lstStyle/>
          <a:p>
            <a:r>
              <a:rPr lang="en-US" sz="4000" b="1" dirty="0">
                <a:solidFill>
                  <a:schemeClr val="accent2">
                    <a:lumMod val="50000"/>
                  </a:schemeClr>
                </a:solidFill>
                <a:latin typeface="Calisto MT" panose="02040603050505030304" pitchFamily="18" charset="0"/>
              </a:rPr>
              <a:t>Presentation Outline</a:t>
            </a:r>
          </a:p>
        </p:txBody>
      </p:sp>
      <p:sp>
        <p:nvSpPr>
          <p:cNvPr id="3" name="Content Placeholder 2">
            <a:extLst>
              <a:ext uri="{FF2B5EF4-FFF2-40B4-BE49-F238E27FC236}">
                <a16:creationId xmlns:a16="http://schemas.microsoft.com/office/drawing/2014/main" id="{E5D502BE-F636-7D1D-85F0-BAFFD3E05E1C}"/>
              </a:ext>
            </a:extLst>
          </p:cNvPr>
          <p:cNvSpPr>
            <a:spLocks noGrp="1"/>
          </p:cNvSpPr>
          <p:nvPr>
            <p:ph idx="1"/>
          </p:nvPr>
        </p:nvSpPr>
        <p:spPr>
          <a:xfrm>
            <a:off x="405352" y="782425"/>
            <a:ext cx="8634953" cy="5851851"/>
          </a:xfrm>
        </p:spPr>
        <p:txBody>
          <a:bodyPr numCol="2">
            <a:normAutofit/>
          </a:bodyPr>
          <a:lstStyle/>
          <a:p>
            <a:pPr marL="457200" indent="-457200" algn="just">
              <a:lnSpc>
                <a:spcPct val="100000"/>
              </a:lnSpc>
              <a:buAutoNum type="arabicPeriod"/>
            </a:pPr>
            <a:r>
              <a:rPr lang="en-US" sz="2200" b="1" dirty="0">
                <a:solidFill>
                  <a:srgbClr val="002060"/>
                </a:solidFill>
                <a:latin typeface="Calisto MT" panose="02040603050505030304" pitchFamily="18" charset="0"/>
              </a:rPr>
              <a:t>Introduction	</a:t>
            </a:r>
          </a:p>
          <a:p>
            <a:pPr marL="457200" indent="-457200" algn="just">
              <a:lnSpc>
                <a:spcPct val="100000"/>
              </a:lnSpc>
              <a:buAutoNum type="arabicPeriod"/>
            </a:pPr>
            <a:r>
              <a:rPr lang="en-US" sz="2200" b="1" dirty="0">
                <a:solidFill>
                  <a:srgbClr val="002060"/>
                </a:solidFill>
                <a:latin typeface="Calisto MT" panose="02040603050505030304" pitchFamily="18" charset="0"/>
              </a:rPr>
              <a:t>Related Work</a:t>
            </a:r>
          </a:p>
          <a:p>
            <a:pPr marL="457200" indent="-457200" algn="just">
              <a:lnSpc>
                <a:spcPct val="100000"/>
              </a:lnSpc>
              <a:buFont typeface="Arial" panose="020B0604020202020204" pitchFamily="34" charset="0"/>
              <a:buAutoNum type="arabicPeriod"/>
            </a:pPr>
            <a:r>
              <a:rPr lang="en-US" sz="2200" b="1" dirty="0">
                <a:solidFill>
                  <a:srgbClr val="002060"/>
                </a:solidFill>
                <a:latin typeface="Calisto MT" panose="02040603050505030304" pitchFamily="18" charset="0"/>
              </a:rPr>
              <a:t>Proposed Methodology</a:t>
            </a:r>
          </a:p>
          <a:p>
            <a:pPr marL="0" indent="0" algn="just">
              <a:lnSpc>
                <a:spcPct val="100000"/>
              </a:lnSpc>
              <a:buNone/>
            </a:pPr>
            <a:r>
              <a:rPr lang="en-US" sz="2200" b="1" dirty="0">
                <a:solidFill>
                  <a:srgbClr val="002060"/>
                </a:solidFill>
                <a:latin typeface="Calisto MT" panose="02040603050505030304" pitchFamily="18" charset="0"/>
              </a:rPr>
              <a:t>       3.1 </a:t>
            </a:r>
            <a:r>
              <a:rPr lang="en-US" sz="1800" b="1" dirty="0">
                <a:solidFill>
                  <a:srgbClr val="002060"/>
                </a:solidFill>
                <a:latin typeface="Calisto MT" panose="02040603050505030304" pitchFamily="18" charset="0"/>
              </a:rPr>
              <a:t>Preprocessing the ECG signal</a:t>
            </a:r>
          </a:p>
          <a:p>
            <a:pPr marL="0" indent="0" algn="just">
              <a:lnSpc>
                <a:spcPct val="100000"/>
              </a:lnSpc>
              <a:buNone/>
            </a:pPr>
            <a:r>
              <a:rPr lang="en-US" sz="2200" b="1" dirty="0">
                <a:solidFill>
                  <a:srgbClr val="002060"/>
                </a:solidFill>
                <a:latin typeface="Calisto MT" panose="02040603050505030304" pitchFamily="18" charset="0"/>
              </a:rPr>
              <a:t>       3.2 </a:t>
            </a:r>
            <a:r>
              <a:rPr lang="en-US" sz="1800" b="1" dirty="0">
                <a:solidFill>
                  <a:srgbClr val="002060"/>
                </a:solidFill>
                <a:latin typeface="Calisto MT" panose="02040603050505030304" pitchFamily="18" charset="0"/>
              </a:rPr>
              <a:t>Feature Extraction</a:t>
            </a:r>
          </a:p>
          <a:p>
            <a:pPr marL="0" indent="0" algn="just">
              <a:lnSpc>
                <a:spcPct val="100000"/>
              </a:lnSpc>
              <a:buNone/>
            </a:pPr>
            <a:r>
              <a:rPr lang="en-US" sz="2200" b="1" dirty="0">
                <a:solidFill>
                  <a:srgbClr val="002060"/>
                </a:solidFill>
                <a:latin typeface="Calisto MT" panose="02040603050505030304" pitchFamily="18" charset="0"/>
              </a:rPr>
              <a:t>       3.3 </a:t>
            </a:r>
            <a:r>
              <a:rPr lang="en-US" sz="1800" b="1" dirty="0">
                <a:solidFill>
                  <a:srgbClr val="002060"/>
                </a:solidFill>
                <a:latin typeface="Calisto MT" panose="02040603050505030304" pitchFamily="18" charset="0"/>
              </a:rPr>
              <a:t>LSTM Algorithm</a:t>
            </a:r>
          </a:p>
          <a:p>
            <a:pPr marL="0" indent="0" algn="just">
              <a:lnSpc>
                <a:spcPct val="100000"/>
              </a:lnSpc>
              <a:buNone/>
            </a:pPr>
            <a:r>
              <a:rPr lang="en-IN" sz="2000" b="1" dirty="0">
                <a:solidFill>
                  <a:srgbClr val="002060"/>
                </a:solidFill>
                <a:latin typeface="Calisto MT" panose="02040603050505030304" pitchFamily="18" charset="0"/>
              </a:rPr>
              <a:t>4.   Results</a:t>
            </a:r>
          </a:p>
          <a:p>
            <a:pPr marL="0" indent="0" algn="just">
              <a:lnSpc>
                <a:spcPct val="100000"/>
              </a:lnSpc>
              <a:buNone/>
            </a:pPr>
            <a:r>
              <a:rPr lang="en-IN" sz="2400" b="1" dirty="0">
                <a:solidFill>
                  <a:srgbClr val="002060"/>
                </a:solidFill>
                <a:latin typeface="Calisto MT" panose="02040603050505030304" pitchFamily="18" charset="0"/>
              </a:rPr>
              <a:t>5.  </a:t>
            </a:r>
            <a:r>
              <a:rPr lang="en-US" sz="2200" b="1" dirty="0">
                <a:solidFill>
                  <a:srgbClr val="002060"/>
                </a:solidFill>
                <a:latin typeface="Calisto MT" panose="02040603050505030304" pitchFamily="18" charset="0"/>
              </a:rPr>
              <a:t>Conclusion</a:t>
            </a:r>
          </a:p>
          <a:p>
            <a:pPr marL="0" indent="0" algn="just">
              <a:lnSpc>
                <a:spcPct val="100000"/>
              </a:lnSpc>
              <a:buNone/>
            </a:pPr>
            <a:r>
              <a:rPr lang="en-US" sz="2200" b="1" dirty="0">
                <a:solidFill>
                  <a:srgbClr val="002060"/>
                </a:solidFill>
                <a:latin typeface="Calisto MT" panose="02040603050505030304" pitchFamily="18" charset="0"/>
              </a:rPr>
              <a:t>6.  References</a:t>
            </a:r>
          </a:p>
          <a:p>
            <a:pPr marL="457200" indent="-457200">
              <a:lnSpc>
                <a:spcPct val="100000"/>
              </a:lnSpc>
              <a:buAutoNum type="arabicPeriod"/>
            </a:pPr>
            <a:endParaRPr lang="en-US" sz="2200" b="1" dirty="0">
              <a:solidFill>
                <a:srgbClr val="002060"/>
              </a:solidFill>
              <a:latin typeface="Calisto MT" panose="02040603050505030304" pitchFamily="18" charset="0"/>
            </a:endParaRPr>
          </a:p>
          <a:p>
            <a:pPr marL="457200" indent="-457200">
              <a:lnSpc>
                <a:spcPct val="100000"/>
              </a:lnSpc>
              <a:buAutoNum type="arabicPeriod"/>
            </a:pPr>
            <a:endParaRPr lang="en-US" sz="2200" b="1" dirty="0">
              <a:solidFill>
                <a:srgbClr val="002060"/>
              </a:solidFill>
              <a:latin typeface="Calisto MT" panose="02040603050505030304" pitchFamily="18" charset="0"/>
            </a:endParaRPr>
          </a:p>
          <a:p>
            <a:pPr marL="0" indent="0">
              <a:lnSpc>
                <a:spcPct val="100000"/>
              </a:lnSpc>
              <a:buNone/>
            </a:pPr>
            <a:endParaRPr lang="en-US" sz="2000" b="1" dirty="0">
              <a:latin typeface="Calisto MT" panose="02040603050505030304" pitchFamily="18" charset="0"/>
            </a:endParaRPr>
          </a:p>
          <a:p>
            <a:pPr marL="0" indent="0">
              <a:lnSpc>
                <a:spcPct val="100000"/>
              </a:lnSpc>
              <a:buNone/>
            </a:pPr>
            <a:endParaRPr lang="en-US" sz="2000" b="1" dirty="0">
              <a:latin typeface="Calisto MT" panose="02040603050505030304" pitchFamily="18" charset="0"/>
            </a:endParaRPr>
          </a:p>
          <a:p>
            <a:pPr marL="457200" indent="-457200">
              <a:lnSpc>
                <a:spcPct val="100000"/>
              </a:lnSpc>
              <a:buAutoNum type="arabicPeriod"/>
            </a:pPr>
            <a:endParaRPr lang="en-US" sz="2200" b="1" dirty="0">
              <a:latin typeface="Calisto MT" panose="02040603050505030304" pitchFamily="18" charset="0"/>
            </a:endParaRPr>
          </a:p>
          <a:p>
            <a:pPr marL="457200" indent="-457200">
              <a:lnSpc>
                <a:spcPct val="100000"/>
              </a:lnSpc>
              <a:buAutoNum type="arabicPeriod"/>
            </a:pPr>
            <a:endParaRPr lang="en-US" sz="2200" b="1" dirty="0">
              <a:latin typeface="Calisto MT" panose="02040603050505030304" pitchFamily="18" charset="0"/>
            </a:endParaRPr>
          </a:p>
          <a:p>
            <a:pPr marL="0" indent="0">
              <a:lnSpc>
                <a:spcPct val="100000"/>
              </a:lnSpc>
              <a:buNone/>
            </a:pPr>
            <a:endParaRPr lang="en-US" sz="2200" b="1" dirty="0">
              <a:latin typeface="Calisto MT" panose="02040603050505030304" pitchFamily="18" charset="0"/>
            </a:endParaRPr>
          </a:p>
        </p:txBody>
      </p:sp>
      <p:sp>
        <p:nvSpPr>
          <p:cNvPr id="6" name="Slide Number Placeholder 5">
            <a:extLst>
              <a:ext uri="{FF2B5EF4-FFF2-40B4-BE49-F238E27FC236}">
                <a16:creationId xmlns:a16="http://schemas.microsoft.com/office/drawing/2014/main" id="{971C3DE6-22F4-4655-E43D-E5183840B449}"/>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3</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1397598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0" y="-42531"/>
            <a:ext cx="8941324" cy="747237"/>
          </a:xfrm>
        </p:spPr>
        <p:txBody>
          <a:bodyPr>
            <a:noAutofit/>
          </a:bodyPr>
          <a:lstStyle/>
          <a:p>
            <a:pPr marL="514350" indent="-514350">
              <a:buFont typeface="+mj-lt"/>
              <a:buAutoNum type="arabicPeriod"/>
            </a:pPr>
            <a:r>
              <a:rPr lang="en-US" sz="3000" b="1" dirty="0">
                <a:solidFill>
                  <a:schemeClr val="accent2">
                    <a:lumMod val="50000"/>
                  </a:schemeClr>
                </a:solidFill>
                <a:latin typeface="Calisto MT" panose="02040603050505030304" pitchFamily="18" charset="0"/>
              </a:rPr>
              <a:t>Introduction</a:t>
            </a:r>
          </a:p>
        </p:txBody>
      </p:sp>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4</a:t>
            </a:fld>
            <a:endParaRPr lang="en-US" sz="1400" b="1" dirty="0">
              <a:solidFill>
                <a:schemeClr val="tx1"/>
              </a:solidFill>
              <a:latin typeface="Calisto MT" panose="02040603050505030304" pitchFamily="18" charset="0"/>
            </a:endParaRPr>
          </a:p>
        </p:txBody>
      </p:sp>
      <p:sp>
        <p:nvSpPr>
          <p:cNvPr id="12" name="TextBox 11">
            <a:extLst>
              <a:ext uri="{FF2B5EF4-FFF2-40B4-BE49-F238E27FC236}">
                <a16:creationId xmlns:a16="http://schemas.microsoft.com/office/drawing/2014/main" id="{C7579F1E-AD39-A873-1A0B-76F162F7777C}"/>
              </a:ext>
            </a:extLst>
          </p:cNvPr>
          <p:cNvSpPr txBox="1"/>
          <p:nvPr/>
        </p:nvSpPr>
        <p:spPr>
          <a:xfrm>
            <a:off x="353960" y="1136806"/>
            <a:ext cx="8688701" cy="4157998"/>
          </a:xfrm>
          <a:prstGeom prst="rect">
            <a:avLst/>
          </a:prstGeom>
          <a:noFill/>
        </p:spPr>
        <p:txBody>
          <a:bodyPr wrap="square">
            <a:spAutoFit/>
          </a:bodyPr>
          <a:lstStyle/>
          <a:p>
            <a:pPr marR="24130" indent="126365" algn="just">
              <a:lnSpc>
                <a:spcPct val="103000"/>
              </a:lnSpc>
              <a:spcBef>
                <a:spcPts val="695"/>
              </a:spcBef>
              <a:spcAft>
                <a:spcPts val="6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This</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study</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aims</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to</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combine</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deep</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learning</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and</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machine</a:t>
            </a:r>
            <a:r>
              <a:rPr lang="en-US" sz="1800" spc="-23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learning methods for the early identification of cardiovascular disorders by electrocardiogram (ECG) picture</a:t>
            </a:r>
            <a:r>
              <a:rPr lang="en-US" sz="1800" b="1"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processing</a:t>
            </a:r>
            <a:r>
              <a:rPr lang="en-US" sz="1800" b="1" dirty="0">
                <a:effectLst/>
                <a:latin typeface="Times New Roman" panose="02020603050405020304" pitchFamily="18" charset="0"/>
                <a:ea typeface="MS Mincho" panose="02020609040205080304" pitchFamily="49" charset="-128"/>
                <a:cs typeface="Times New Roman" panose="02020603050405020304" pitchFamily="18" charset="0"/>
              </a:rPr>
              <a:t>,</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providing a novel means of advancing medical science. By</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means</a:t>
            </a:r>
            <a:r>
              <a:rPr lang="en-US" sz="1800" spc="6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of</a:t>
            </a:r>
            <a:r>
              <a:rPr lang="en-US" sz="1800" spc="3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a:t>
            </a:r>
            <a:r>
              <a:rPr lang="en-US" sz="1800" spc="30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incorporation</a:t>
            </a:r>
            <a:r>
              <a:rPr lang="en-US" sz="1800" spc="30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of</a:t>
            </a:r>
            <a:r>
              <a:rPr lang="en-US" sz="1800" spc="30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varied.</a:t>
            </a:r>
            <a:r>
              <a:rPr lang="en-US" sz="1800" spc="30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It</a:t>
            </a:r>
            <a:r>
              <a:rPr lang="en-US" sz="1800" spc="30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aims</a:t>
            </a:r>
            <a:r>
              <a:rPr lang="en-US" sz="1800" spc="30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to</a:t>
            </a:r>
            <a:r>
              <a:rPr lang="en-US" sz="1800" spc="3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perform</a:t>
            </a:r>
            <a:r>
              <a:rPr lang="en-US" sz="1800" spc="-24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complete</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comparison</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examination</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of</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diagnostic</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efficacy between conventional methods and state-of-the-art deep</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learning models, notably Long Short-Term Memory (LSTM)</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network, using datasets, preprocessing procedures, and feature</a:t>
            </a:r>
            <a:r>
              <a:rPr lang="en-US" sz="1800" spc="-23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extraction techniques. This project establishes the foundation</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for a comprehensive study of cardiovascular health analytics</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with the goal of expanding the limits of existing diagnostic</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capabilities.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R="24130" indent="126365" algn="just">
              <a:lnSpc>
                <a:spcPct val="103000"/>
              </a:lnSpc>
              <a:spcBef>
                <a:spcPts val="55"/>
              </a:spcBef>
              <a:spcAft>
                <a:spcPts val="6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proposed</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methods</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are</a:t>
            </a:r>
            <a:r>
              <a:rPr lang="en-US" sz="1800" spc="25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validated</a:t>
            </a:r>
            <a:r>
              <a:rPr lang="en-US" sz="1800" spc="25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on</a:t>
            </a:r>
            <a:r>
              <a:rPr lang="en-US" sz="1800" spc="25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various</a:t>
            </a:r>
            <a:r>
              <a:rPr lang="en-US" sz="1800" spc="25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datasets</a:t>
            </a:r>
            <a:r>
              <a:rPr lang="en-US" sz="1800" spc="-23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to ensure that they work reliably in different settings. The</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research’s</a:t>
            </a:r>
            <a:r>
              <a:rPr lang="en-US" sz="1800" spc="-2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emphasis</a:t>
            </a:r>
            <a:r>
              <a:rPr lang="en-US" sz="1800" spc="-1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on</a:t>
            </a:r>
            <a:r>
              <a:rPr lang="en-US" sz="1800" spc="-1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a:t>
            </a:r>
            <a:r>
              <a:rPr lang="en-US" sz="1800" spc="-2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potential</a:t>
            </a:r>
            <a:r>
              <a:rPr lang="en-US" sz="1800" spc="-1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to</a:t>
            </a:r>
            <a:r>
              <a:rPr lang="en-US" sz="1800" spc="-1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transform</a:t>
            </a:r>
            <a:r>
              <a:rPr lang="en-US" sz="1800" spc="-2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a:t>
            </a:r>
            <a:r>
              <a:rPr lang="en-US" sz="1800" spc="-1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diagnosis</a:t>
            </a:r>
            <a:r>
              <a:rPr lang="en-US" sz="1800" spc="-24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of</a:t>
            </a:r>
            <a:r>
              <a:rPr lang="en-US" sz="1800" spc="-2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cardiovascular</a:t>
            </a:r>
            <a:r>
              <a:rPr lang="en-US" sz="1800" spc="-2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illness</a:t>
            </a:r>
            <a:r>
              <a:rPr lang="en-US" sz="1800" spc="-2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highlights</a:t>
            </a:r>
            <a:r>
              <a:rPr lang="en-US" sz="1800" spc="-2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its</a:t>
            </a:r>
            <a:r>
              <a:rPr lang="en-US" sz="1800" spc="-2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dedication</a:t>
            </a:r>
            <a:r>
              <a:rPr lang="en-US" sz="1800" spc="-2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to</a:t>
            </a:r>
            <a:r>
              <a:rPr lang="en-US" sz="1800" spc="-2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facilitating</a:t>
            </a:r>
            <a:r>
              <a:rPr lang="en-US" sz="1800" spc="-24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prompt</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interventions</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and</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ultimately</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enhancing</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patient</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out-</a:t>
            </a:r>
            <a:r>
              <a:rPr lang="en-US" sz="1800" spc="-23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comes, so influencing the trajectory of cardiovascular health-</a:t>
            </a:r>
            <a:r>
              <a:rPr lang="en-US" sz="1800" spc="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care</a:t>
            </a:r>
            <a:r>
              <a:rPr lang="en-US" sz="1800" spc="9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a:t>
            </a:r>
            <a:r>
              <a:rPr lang="en-US" sz="1800" spc="9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a:t>
            </a:r>
            <a:r>
              <a:rPr lang="en-US" sz="1800" spc="95"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future.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236915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93A5A-E21E-7CC1-3BA4-E019AA184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96AC4-5777-4C8C-262F-3EDE6546DEFC}"/>
              </a:ext>
            </a:extLst>
          </p:cNvPr>
          <p:cNvSpPr>
            <a:spLocks noGrp="1"/>
          </p:cNvSpPr>
          <p:nvPr>
            <p:ph type="title"/>
          </p:nvPr>
        </p:nvSpPr>
        <p:spPr>
          <a:xfrm>
            <a:off x="0" y="389569"/>
            <a:ext cx="8941324" cy="747237"/>
          </a:xfrm>
        </p:spPr>
        <p:txBody>
          <a:bodyPr>
            <a:noAutofit/>
          </a:bodyPr>
          <a:lstStyle/>
          <a:p>
            <a:pPr marL="514350" indent="-514350">
              <a:buFont typeface="+mj-lt"/>
              <a:buAutoNum type="arabicPeriod"/>
            </a:pPr>
            <a:r>
              <a:rPr lang="en-US" sz="3000" b="1" dirty="0">
                <a:solidFill>
                  <a:schemeClr val="accent2">
                    <a:lumMod val="50000"/>
                  </a:schemeClr>
                </a:solidFill>
                <a:latin typeface="Calisto MT" panose="02040603050505030304" pitchFamily="18" charset="0"/>
              </a:rPr>
              <a:t>Introduction</a:t>
            </a:r>
            <a:br>
              <a:rPr lang="en-US" sz="3000" b="1" dirty="0">
                <a:solidFill>
                  <a:schemeClr val="accent2">
                    <a:lumMod val="50000"/>
                  </a:schemeClr>
                </a:solidFill>
                <a:latin typeface="Calisto MT" panose="02040603050505030304" pitchFamily="18" charset="0"/>
              </a:rPr>
            </a:br>
            <a:endParaRPr lang="en-US" sz="3000" b="1" dirty="0">
              <a:solidFill>
                <a:schemeClr val="accent2">
                  <a:lumMod val="50000"/>
                </a:schemeClr>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238D1FD7-DA2F-567E-F956-472CAF4C93B6}"/>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5</a:t>
            </a:fld>
            <a:endParaRPr lang="en-US" sz="1400" b="1" dirty="0">
              <a:solidFill>
                <a:schemeClr val="tx1"/>
              </a:solidFill>
              <a:latin typeface="Calisto MT" panose="02040603050505030304" pitchFamily="18" charset="0"/>
            </a:endParaRPr>
          </a:p>
        </p:txBody>
      </p:sp>
      <p:sp>
        <p:nvSpPr>
          <p:cNvPr id="12" name="TextBox 11">
            <a:extLst>
              <a:ext uri="{FF2B5EF4-FFF2-40B4-BE49-F238E27FC236}">
                <a16:creationId xmlns:a16="http://schemas.microsoft.com/office/drawing/2014/main" id="{6B2548BB-F55E-FBF1-F5D2-5A8A362BB735}"/>
              </a:ext>
            </a:extLst>
          </p:cNvPr>
          <p:cNvSpPr txBox="1"/>
          <p:nvPr/>
        </p:nvSpPr>
        <p:spPr>
          <a:xfrm>
            <a:off x="353960" y="1136806"/>
            <a:ext cx="8688701" cy="3191386"/>
          </a:xfrm>
          <a:prstGeom prst="rect">
            <a:avLst/>
          </a:prstGeom>
          <a:noFill/>
        </p:spPr>
        <p:txBody>
          <a:bodyPr wrap="square">
            <a:spAutoFit/>
          </a:bodyPr>
          <a:lstStyle/>
          <a:p>
            <a:pPr marR="24130" indent="126365" algn="just">
              <a:lnSpc>
                <a:spcPct val="103000"/>
              </a:lnSpc>
              <a:spcBef>
                <a:spcPts val="695"/>
              </a:spcBef>
              <a:spcAft>
                <a:spcPts val="600"/>
              </a:spcAft>
            </a:pPr>
            <a:r>
              <a:rPr lang="en-US" sz="1800" b="1" dirty="0">
                <a:effectLst/>
                <a:latin typeface="Cambria" panose="02040503050406030204" pitchFamily="18" charset="0"/>
                <a:ea typeface="MS Mincho" panose="02020609040205080304" pitchFamily="49" charset="-128"/>
                <a:cs typeface="Times New Roman" panose="02020603050405020304" pitchFamily="18" charset="0"/>
              </a:rPr>
              <a:t>A. ECG</a:t>
            </a:r>
            <a:r>
              <a:rPr lang="en-US" sz="1800" b="1" spc="9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signal</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R="24130" indent="126365" algn="just">
              <a:lnSpc>
                <a:spcPct val="103000"/>
              </a:lnSpc>
              <a:spcBef>
                <a:spcPts val="695"/>
              </a:spcBef>
              <a:spcAft>
                <a:spcPts val="6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electrical activity of the heart is displayed on an ECG signal. Doctors can see if the heart is beating correctly because to the waves it produces. Through the use of these waves, cardiac issues can be identified</a:t>
            </a:r>
          </a:p>
          <a:p>
            <a:pPr marR="24130" indent="126365" algn="just">
              <a:lnSpc>
                <a:spcPct val="103000"/>
              </a:lnSpc>
              <a:spcBef>
                <a:spcPts val="695"/>
              </a:spcBef>
              <a:spcAft>
                <a:spcPts val="600"/>
              </a:spcAft>
            </a:pPr>
            <a:endParaRPr lang="en-US" dirty="0">
              <a:latin typeface="Times New Roman" panose="02020603050405020304" pitchFamily="18" charset="0"/>
              <a:ea typeface="MS Mincho" panose="02020609040205080304" pitchFamily="49" charset="-128"/>
              <a:cs typeface="Times New Roman" panose="02020603050405020304" pitchFamily="18" charset="0"/>
            </a:endParaRPr>
          </a:p>
          <a:p>
            <a:pPr marR="24130" indent="126365" algn="just">
              <a:lnSpc>
                <a:spcPct val="103000"/>
              </a:lnSpc>
              <a:spcBef>
                <a:spcPts val="695"/>
              </a:spcBef>
              <a:spcAft>
                <a:spcPts val="600"/>
              </a:spcAft>
            </a:pPr>
            <a:endParaRPr lang="en-US"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R="24130" indent="126365" algn="just">
              <a:lnSpc>
                <a:spcPct val="103000"/>
              </a:lnSpc>
              <a:spcBef>
                <a:spcPts val="695"/>
              </a:spcBef>
              <a:spcAft>
                <a:spcPts val="600"/>
              </a:spcAft>
            </a:pPr>
            <a:endParaRPr lang="en-US" dirty="0">
              <a:latin typeface="Times New Roman" panose="02020603050405020304" pitchFamily="18" charset="0"/>
              <a:ea typeface="MS Mincho" panose="02020609040205080304" pitchFamily="49" charset="-128"/>
              <a:cs typeface="Times New Roman" panose="02020603050405020304" pitchFamily="18" charset="0"/>
            </a:endParaRPr>
          </a:p>
          <a:p>
            <a:pPr marR="24130" indent="126365" algn="just">
              <a:lnSpc>
                <a:spcPct val="103000"/>
              </a:lnSpc>
              <a:spcBef>
                <a:spcPts val="695"/>
              </a:spcBef>
              <a:spcAft>
                <a:spcPts val="600"/>
              </a:spcAft>
            </a:pPr>
            <a:endParaRPr lang="en-US"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4" name="Picture 3">
            <a:extLst>
              <a:ext uri="{FF2B5EF4-FFF2-40B4-BE49-F238E27FC236}">
                <a16:creationId xmlns:a16="http://schemas.microsoft.com/office/drawing/2014/main" id="{AB95F5E8-3F3C-09AE-C253-BFFA85C33A3B}"/>
              </a:ext>
            </a:extLst>
          </p:cNvPr>
          <p:cNvPicPr>
            <a:picLocks noChangeAspect="1"/>
          </p:cNvPicPr>
          <p:nvPr/>
        </p:nvPicPr>
        <p:blipFill>
          <a:blip r:embed="rId2"/>
          <a:stretch>
            <a:fillRect/>
          </a:stretch>
        </p:blipFill>
        <p:spPr>
          <a:xfrm>
            <a:off x="1809136" y="2732499"/>
            <a:ext cx="5142271" cy="2717616"/>
          </a:xfrm>
          <a:prstGeom prst="rect">
            <a:avLst/>
          </a:prstGeom>
        </p:spPr>
      </p:pic>
      <p:sp>
        <p:nvSpPr>
          <p:cNvPr id="5" name="TextBox 4">
            <a:extLst>
              <a:ext uri="{FF2B5EF4-FFF2-40B4-BE49-F238E27FC236}">
                <a16:creationId xmlns:a16="http://schemas.microsoft.com/office/drawing/2014/main" id="{9C8D568C-8318-CE80-AD55-33AE17AC8B7A}"/>
              </a:ext>
            </a:extLst>
          </p:cNvPr>
          <p:cNvSpPr txBox="1"/>
          <p:nvPr/>
        </p:nvSpPr>
        <p:spPr>
          <a:xfrm>
            <a:off x="2659012" y="5820697"/>
            <a:ext cx="4827638" cy="369332"/>
          </a:xfrm>
          <a:prstGeom prst="rect">
            <a:avLst/>
          </a:prstGeom>
          <a:noFill/>
        </p:spPr>
        <p:txBody>
          <a:bodyPr wrap="square" rtlCol="0">
            <a:spAutoFit/>
          </a:bodyPr>
          <a:lstStyle/>
          <a:p>
            <a:r>
              <a:rPr lang="en-US" dirty="0"/>
              <a:t>Fig. 1. ECG Signal with PQRST Dimensions</a:t>
            </a:r>
            <a:endParaRPr lang="en-IN" dirty="0"/>
          </a:p>
        </p:txBody>
      </p:sp>
    </p:spTree>
    <p:extLst>
      <p:ext uri="{BB962C8B-B14F-4D97-AF65-F5344CB8AC3E}">
        <p14:creationId xmlns:p14="http://schemas.microsoft.com/office/powerpoint/2010/main" val="2623879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3485E-F828-3CE9-EA56-1592F81B9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9AA38-5CF8-D2B5-BAC2-192A6C36A560}"/>
              </a:ext>
            </a:extLst>
          </p:cNvPr>
          <p:cNvSpPr>
            <a:spLocks noGrp="1"/>
          </p:cNvSpPr>
          <p:nvPr>
            <p:ph type="title"/>
          </p:nvPr>
        </p:nvSpPr>
        <p:spPr>
          <a:xfrm>
            <a:off x="0" y="389569"/>
            <a:ext cx="8941324" cy="747237"/>
          </a:xfrm>
        </p:spPr>
        <p:txBody>
          <a:bodyPr>
            <a:noAutofit/>
          </a:bodyPr>
          <a:lstStyle/>
          <a:p>
            <a:pPr marL="514350" indent="-514350">
              <a:buFont typeface="+mj-lt"/>
              <a:buAutoNum type="arabicPeriod"/>
            </a:pPr>
            <a:r>
              <a:rPr lang="en-US" sz="3000" b="1" dirty="0">
                <a:solidFill>
                  <a:schemeClr val="accent2">
                    <a:lumMod val="50000"/>
                  </a:schemeClr>
                </a:solidFill>
                <a:latin typeface="Calisto MT" panose="02040603050505030304" pitchFamily="18" charset="0"/>
              </a:rPr>
              <a:t>Introduction</a:t>
            </a:r>
            <a:br>
              <a:rPr lang="en-US" sz="3000" b="1" dirty="0">
                <a:solidFill>
                  <a:schemeClr val="accent2">
                    <a:lumMod val="50000"/>
                  </a:schemeClr>
                </a:solidFill>
                <a:latin typeface="Calisto MT" panose="02040603050505030304" pitchFamily="18" charset="0"/>
              </a:rPr>
            </a:br>
            <a:endParaRPr lang="en-US" sz="3000" b="1" dirty="0">
              <a:solidFill>
                <a:schemeClr val="accent2">
                  <a:lumMod val="50000"/>
                </a:schemeClr>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73679C50-26AF-810E-400D-23375FFCC571}"/>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6</a:t>
            </a:fld>
            <a:endParaRPr lang="en-US" sz="1400" b="1" dirty="0">
              <a:solidFill>
                <a:schemeClr val="tx1"/>
              </a:solidFill>
              <a:latin typeface="Calisto MT" panose="02040603050505030304" pitchFamily="18" charset="0"/>
            </a:endParaRPr>
          </a:p>
        </p:txBody>
      </p:sp>
      <p:sp>
        <p:nvSpPr>
          <p:cNvPr id="12" name="TextBox 11">
            <a:extLst>
              <a:ext uri="{FF2B5EF4-FFF2-40B4-BE49-F238E27FC236}">
                <a16:creationId xmlns:a16="http://schemas.microsoft.com/office/drawing/2014/main" id="{076ADD96-E331-3F97-9912-C79335039DBB}"/>
              </a:ext>
            </a:extLst>
          </p:cNvPr>
          <p:cNvSpPr txBox="1"/>
          <p:nvPr/>
        </p:nvSpPr>
        <p:spPr>
          <a:xfrm>
            <a:off x="353960" y="1136806"/>
            <a:ext cx="8688701" cy="3880678"/>
          </a:xfrm>
          <a:prstGeom prst="rect">
            <a:avLst/>
          </a:prstGeom>
          <a:noFill/>
        </p:spPr>
        <p:txBody>
          <a:bodyPr wrap="square">
            <a:spAutoFit/>
          </a:bodyPr>
          <a:lstStyle/>
          <a:p>
            <a:pPr marR="24130" indent="126365" algn="just">
              <a:lnSpc>
                <a:spcPct val="103000"/>
              </a:lnSpc>
              <a:spcBef>
                <a:spcPts val="695"/>
              </a:spcBef>
              <a:spcAft>
                <a:spcPts val="600"/>
              </a:spcAft>
            </a:pPr>
            <a:r>
              <a:rPr lang="en-US" sz="1800" b="1" dirty="0">
                <a:effectLst/>
                <a:latin typeface="Cambria" panose="02040503050406030204" pitchFamily="18" charset="0"/>
                <a:ea typeface="MS Mincho" panose="02020609040205080304" pitchFamily="49" charset="-128"/>
                <a:cs typeface="Times New Roman" panose="02020603050405020304" pitchFamily="18" charset="0"/>
              </a:rPr>
              <a:t>B. Abnormal</a:t>
            </a:r>
            <a:r>
              <a:rPr lang="en-US" sz="1800" b="1" spc="8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ECG</a:t>
            </a:r>
            <a:r>
              <a:rPr lang="en-US" sz="1800" b="1" spc="85"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Signal</a:t>
            </a:r>
          </a:p>
          <a:p>
            <a:pPr marR="24130" indent="126365" algn="just">
              <a:lnSpc>
                <a:spcPct val="103000"/>
              </a:lnSpc>
              <a:spcBef>
                <a:spcPts val="695"/>
              </a:spcBef>
              <a:spcAft>
                <a:spcPts val="6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Abnormal ECG signals include various cardiac anomalies such as arrhythmias, ischemia, and conduction disorders. Unusual P or T waves, aberrant QRS length or shape, and extended PR or QT intervals are examples of anomalies that can be seen in an abnormal ECG signal. It may be a sign of an electrolyte imbalance, myocardial infarction, ischemia, or arrhythmias. Abnormal wave shapes or ST elevation/depression are common anomalies. For a proper diagnosis and course of therapy, these variations call for additional medical assessment.</a:t>
            </a:r>
            <a:endParaRPr lang="en-US" dirty="0">
              <a:latin typeface="Times New Roman" panose="02020603050405020304" pitchFamily="18" charset="0"/>
              <a:ea typeface="MS Mincho" panose="02020609040205080304" pitchFamily="49" charset="-128"/>
              <a:cs typeface="Times New Roman" panose="02020603050405020304" pitchFamily="18" charset="0"/>
            </a:endParaRPr>
          </a:p>
          <a:p>
            <a:pPr marR="24130" indent="126365" algn="just">
              <a:lnSpc>
                <a:spcPct val="103000"/>
              </a:lnSpc>
              <a:spcBef>
                <a:spcPts val="695"/>
              </a:spcBef>
              <a:spcAft>
                <a:spcPts val="600"/>
              </a:spcAft>
            </a:pPr>
            <a:endParaRPr lang="en-US"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R="24130" indent="126365" algn="just">
              <a:lnSpc>
                <a:spcPct val="103000"/>
              </a:lnSpc>
              <a:spcBef>
                <a:spcPts val="695"/>
              </a:spcBef>
              <a:spcAft>
                <a:spcPts val="600"/>
              </a:spcAft>
            </a:pPr>
            <a:endParaRPr lang="en-US" dirty="0">
              <a:latin typeface="Times New Roman" panose="02020603050405020304" pitchFamily="18" charset="0"/>
              <a:ea typeface="MS Mincho" panose="02020609040205080304" pitchFamily="49" charset="-128"/>
              <a:cs typeface="Times New Roman" panose="02020603050405020304" pitchFamily="18" charset="0"/>
            </a:endParaRPr>
          </a:p>
          <a:p>
            <a:pPr marR="24130" indent="126365" algn="just">
              <a:lnSpc>
                <a:spcPct val="103000"/>
              </a:lnSpc>
              <a:spcBef>
                <a:spcPts val="695"/>
              </a:spcBef>
              <a:spcAft>
                <a:spcPts val="600"/>
              </a:spcAft>
            </a:pPr>
            <a:endParaRPr lang="en-US"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3" name="Picture 2">
            <a:extLst>
              <a:ext uri="{FF2B5EF4-FFF2-40B4-BE49-F238E27FC236}">
                <a16:creationId xmlns:a16="http://schemas.microsoft.com/office/drawing/2014/main" id="{E5C69358-E32C-F7D9-8C8D-AE4BEB777106}"/>
              </a:ext>
            </a:extLst>
          </p:cNvPr>
          <p:cNvPicPr>
            <a:picLocks noChangeAspect="1"/>
          </p:cNvPicPr>
          <p:nvPr/>
        </p:nvPicPr>
        <p:blipFill>
          <a:blip r:embed="rId2"/>
          <a:stretch>
            <a:fillRect/>
          </a:stretch>
        </p:blipFill>
        <p:spPr>
          <a:xfrm>
            <a:off x="2156671" y="3877433"/>
            <a:ext cx="5083278" cy="2280102"/>
          </a:xfrm>
          <a:prstGeom prst="rect">
            <a:avLst/>
          </a:prstGeom>
        </p:spPr>
      </p:pic>
      <p:sp>
        <p:nvSpPr>
          <p:cNvPr id="6" name="TextBox 5">
            <a:extLst>
              <a:ext uri="{FF2B5EF4-FFF2-40B4-BE49-F238E27FC236}">
                <a16:creationId xmlns:a16="http://schemas.microsoft.com/office/drawing/2014/main" id="{4D64227E-8B42-8F3E-C86B-E5112563BC8B}"/>
              </a:ext>
            </a:extLst>
          </p:cNvPr>
          <p:cNvSpPr txBox="1"/>
          <p:nvPr/>
        </p:nvSpPr>
        <p:spPr>
          <a:xfrm>
            <a:off x="2969342" y="6356351"/>
            <a:ext cx="3795252" cy="369332"/>
          </a:xfrm>
          <a:prstGeom prst="rect">
            <a:avLst/>
          </a:prstGeom>
          <a:noFill/>
        </p:spPr>
        <p:txBody>
          <a:bodyPr wrap="square" rtlCol="0">
            <a:spAutoFit/>
          </a:bodyPr>
          <a:lstStyle/>
          <a:p>
            <a:r>
              <a:rPr lang="en-IN" dirty="0"/>
              <a:t>Fig. 2. Abnormal ECG Signal</a:t>
            </a:r>
          </a:p>
        </p:txBody>
      </p:sp>
    </p:spTree>
    <p:extLst>
      <p:ext uri="{BB962C8B-B14F-4D97-AF65-F5344CB8AC3E}">
        <p14:creationId xmlns:p14="http://schemas.microsoft.com/office/powerpoint/2010/main" val="2399485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959D2-5D09-C43E-F919-5FDABBAC9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DC648-D066-CE43-C839-79C0FDFFB7E7}"/>
              </a:ext>
            </a:extLst>
          </p:cNvPr>
          <p:cNvSpPr>
            <a:spLocks noGrp="1"/>
          </p:cNvSpPr>
          <p:nvPr>
            <p:ph type="title"/>
          </p:nvPr>
        </p:nvSpPr>
        <p:spPr>
          <a:xfrm>
            <a:off x="0" y="389569"/>
            <a:ext cx="8941324" cy="747237"/>
          </a:xfrm>
        </p:spPr>
        <p:txBody>
          <a:bodyPr>
            <a:noAutofit/>
          </a:bodyPr>
          <a:lstStyle/>
          <a:p>
            <a:pPr marL="514350" indent="-514350">
              <a:buFont typeface="+mj-lt"/>
              <a:buAutoNum type="arabicPeriod"/>
            </a:pPr>
            <a:r>
              <a:rPr lang="en-US" sz="3000" b="1" dirty="0">
                <a:solidFill>
                  <a:schemeClr val="accent2">
                    <a:lumMod val="50000"/>
                  </a:schemeClr>
                </a:solidFill>
                <a:latin typeface="Calisto MT" panose="02040603050505030304" pitchFamily="18" charset="0"/>
              </a:rPr>
              <a:t>Introduction</a:t>
            </a:r>
            <a:br>
              <a:rPr lang="en-US" sz="3000" b="1" dirty="0">
                <a:solidFill>
                  <a:schemeClr val="accent2">
                    <a:lumMod val="50000"/>
                  </a:schemeClr>
                </a:solidFill>
                <a:latin typeface="Calisto MT" panose="02040603050505030304" pitchFamily="18" charset="0"/>
              </a:rPr>
            </a:br>
            <a:endParaRPr lang="en-US" sz="3000" b="1" dirty="0">
              <a:solidFill>
                <a:schemeClr val="accent2">
                  <a:lumMod val="50000"/>
                </a:schemeClr>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1818E490-4543-018F-E591-9E672188480B}"/>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7</a:t>
            </a:fld>
            <a:endParaRPr lang="en-US" sz="1400" b="1" dirty="0">
              <a:solidFill>
                <a:schemeClr val="tx1"/>
              </a:solidFill>
              <a:latin typeface="Calisto MT" panose="02040603050505030304" pitchFamily="18" charset="0"/>
            </a:endParaRPr>
          </a:p>
        </p:txBody>
      </p:sp>
      <p:sp>
        <p:nvSpPr>
          <p:cNvPr id="12" name="TextBox 11">
            <a:extLst>
              <a:ext uri="{FF2B5EF4-FFF2-40B4-BE49-F238E27FC236}">
                <a16:creationId xmlns:a16="http://schemas.microsoft.com/office/drawing/2014/main" id="{B52613AE-E169-F0CD-D77D-031253C38161}"/>
              </a:ext>
            </a:extLst>
          </p:cNvPr>
          <p:cNvSpPr txBox="1"/>
          <p:nvPr/>
        </p:nvSpPr>
        <p:spPr>
          <a:xfrm>
            <a:off x="353960" y="1136806"/>
            <a:ext cx="8688701" cy="2857962"/>
          </a:xfrm>
          <a:prstGeom prst="rect">
            <a:avLst/>
          </a:prstGeom>
          <a:noFill/>
        </p:spPr>
        <p:txBody>
          <a:bodyPr wrap="square">
            <a:spAutoFit/>
          </a:bodyPr>
          <a:lstStyle/>
          <a:p>
            <a:pPr marR="24130" indent="126365" algn="just">
              <a:lnSpc>
                <a:spcPct val="103000"/>
              </a:lnSpc>
              <a:spcBef>
                <a:spcPts val="695"/>
              </a:spcBef>
              <a:spcAft>
                <a:spcPts val="600"/>
              </a:spcAft>
            </a:pPr>
            <a:r>
              <a:rPr lang="en-US" sz="1800" b="1" dirty="0">
                <a:effectLst/>
                <a:latin typeface="Cambria" panose="02040503050406030204" pitchFamily="18" charset="0"/>
                <a:ea typeface="MS Mincho" panose="02020609040205080304" pitchFamily="49" charset="-128"/>
                <a:cs typeface="Times New Roman" panose="02020603050405020304" pitchFamily="18" charset="0"/>
              </a:rPr>
              <a:t>C. Normal</a:t>
            </a:r>
            <a:r>
              <a:rPr lang="en-US" sz="1800" b="1" spc="7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ECG</a:t>
            </a:r>
            <a:r>
              <a:rPr lang="en-US" sz="1800" b="1" spc="7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b="1" dirty="0">
                <a:effectLst/>
                <a:latin typeface="Cambria" panose="02040503050406030204" pitchFamily="18" charset="0"/>
                <a:ea typeface="MS Mincho" panose="02020609040205080304" pitchFamily="49" charset="-128"/>
                <a:cs typeface="Times New Roman" panose="02020603050405020304" pitchFamily="18" charset="0"/>
              </a:rPr>
              <a:t>signal</a:t>
            </a:r>
            <a:endParaRPr lang="en-IN" b="1" dirty="0">
              <a:latin typeface="Cambria" panose="02040503050406030204" pitchFamily="18" charset="0"/>
              <a:ea typeface="MS Mincho" panose="02020609040205080304" pitchFamily="49" charset="-128"/>
              <a:cs typeface="Times New Roman" panose="02020603050405020304" pitchFamily="18" charset="0"/>
            </a:endParaRPr>
          </a:p>
          <a:p>
            <a:pPr marR="24130" indent="126365" algn="just">
              <a:lnSpc>
                <a:spcPct val="103000"/>
              </a:lnSpc>
              <a:spcBef>
                <a:spcPts val="695"/>
              </a:spcBef>
              <a:spcAft>
                <a:spcPts val="6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Normal ECG signals exhibit regular patterns representing healthy cardiac activity. P waves represent atrial depolarization, QRS complexes represent ventricular depolarization, and T waves represent ventricular repolarization in a typical ECG signal. The QRS length should be ¡ 0.12 seconds, and the PR interval should be 0.12-0.20 seconds. The normal range for heart rate is 60–100 bpm. Any differences might point to irregularities in the heart.</a:t>
            </a:r>
          </a:p>
          <a:p>
            <a:pPr marR="24130" indent="126365" algn="just">
              <a:lnSpc>
                <a:spcPct val="103000"/>
              </a:lnSpc>
              <a:spcBef>
                <a:spcPts val="695"/>
              </a:spcBef>
              <a:spcAft>
                <a:spcPts val="600"/>
              </a:spcAft>
            </a:pPr>
            <a:endParaRPr lang="en-US" dirty="0">
              <a:latin typeface="Times New Roman" panose="02020603050405020304" pitchFamily="18" charset="0"/>
              <a:ea typeface="MS Mincho" panose="02020609040205080304" pitchFamily="49" charset="-128"/>
              <a:cs typeface="Times New Roman" panose="02020603050405020304" pitchFamily="18" charset="0"/>
            </a:endParaRPr>
          </a:p>
          <a:p>
            <a:pPr marR="24130" indent="126365" algn="just">
              <a:lnSpc>
                <a:spcPct val="103000"/>
              </a:lnSpc>
              <a:spcBef>
                <a:spcPts val="695"/>
              </a:spcBef>
              <a:spcAft>
                <a:spcPts val="600"/>
              </a:spcAft>
            </a:pPr>
            <a:endParaRPr lang="en-US"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8" name="Picture 7">
            <a:extLst>
              <a:ext uri="{FF2B5EF4-FFF2-40B4-BE49-F238E27FC236}">
                <a16:creationId xmlns:a16="http://schemas.microsoft.com/office/drawing/2014/main" id="{54221EFE-E6E9-57E5-1B02-6AC76A35A43A}"/>
              </a:ext>
            </a:extLst>
          </p:cNvPr>
          <p:cNvPicPr>
            <a:picLocks noChangeAspect="1"/>
          </p:cNvPicPr>
          <p:nvPr/>
        </p:nvPicPr>
        <p:blipFill>
          <a:blip r:embed="rId2"/>
          <a:stretch>
            <a:fillRect/>
          </a:stretch>
        </p:blipFill>
        <p:spPr>
          <a:xfrm>
            <a:off x="1769806" y="3313865"/>
            <a:ext cx="6174659" cy="2857962"/>
          </a:xfrm>
          <a:prstGeom prst="rect">
            <a:avLst/>
          </a:prstGeom>
        </p:spPr>
      </p:pic>
      <p:sp>
        <p:nvSpPr>
          <p:cNvPr id="9" name="TextBox 8">
            <a:extLst>
              <a:ext uri="{FF2B5EF4-FFF2-40B4-BE49-F238E27FC236}">
                <a16:creationId xmlns:a16="http://schemas.microsoft.com/office/drawing/2014/main" id="{FA61159B-6D79-B514-ECE5-CB88383F3CE5}"/>
              </a:ext>
            </a:extLst>
          </p:cNvPr>
          <p:cNvSpPr txBox="1"/>
          <p:nvPr/>
        </p:nvSpPr>
        <p:spPr>
          <a:xfrm>
            <a:off x="3097161" y="6468431"/>
            <a:ext cx="3972233" cy="369332"/>
          </a:xfrm>
          <a:prstGeom prst="rect">
            <a:avLst/>
          </a:prstGeom>
          <a:noFill/>
        </p:spPr>
        <p:txBody>
          <a:bodyPr wrap="square" rtlCol="0">
            <a:spAutoFit/>
          </a:bodyPr>
          <a:lstStyle/>
          <a:p>
            <a:r>
              <a:rPr lang="en-IN" dirty="0"/>
              <a:t> Fig. 3. Normal ECG signal</a:t>
            </a:r>
          </a:p>
        </p:txBody>
      </p:sp>
    </p:spTree>
    <p:extLst>
      <p:ext uri="{BB962C8B-B14F-4D97-AF65-F5344CB8AC3E}">
        <p14:creationId xmlns:p14="http://schemas.microsoft.com/office/powerpoint/2010/main" val="1940848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4"/>
          <p:cNvSpPr txBox="1">
            <a:spLocks noGrp="1"/>
          </p:cNvSpPr>
          <p:nvPr>
            <p:ph type="title"/>
          </p:nvPr>
        </p:nvSpPr>
        <p:spPr>
          <a:xfrm>
            <a:off x="202676" y="120029"/>
            <a:ext cx="8738648" cy="747237"/>
          </a:xfrm>
          <a:prstGeom prst="rect">
            <a:avLst/>
          </a:prstGeom>
          <a:noFill/>
          <a:ln>
            <a:noFill/>
          </a:ln>
        </p:spPr>
        <p:txBody>
          <a:bodyPr spcFirstLastPara="1" wrap="square" lIns="91425" tIns="45700" rIns="91425" bIns="45700" anchor="ctr" anchorCtr="0">
            <a:noAutofit/>
          </a:bodyPr>
          <a:lstStyle/>
          <a:p>
            <a:pPr lvl="0" algn="l" rtl="0">
              <a:lnSpc>
                <a:spcPct val="90000"/>
              </a:lnSpc>
              <a:spcBef>
                <a:spcPts val="0"/>
              </a:spcBef>
              <a:spcAft>
                <a:spcPts val="0"/>
              </a:spcAft>
              <a:buClr>
                <a:srgbClr val="833C0B"/>
              </a:buClr>
              <a:buSzPts val="3000"/>
            </a:pPr>
            <a:r>
              <a:rPr lang="en-US" sz="3000" b="1" dirty="0">
                <a:solidFill>
                  <a:srgbClr val="833C0B"/>
                </a:solidFill>
                <a:latin typeface="Calisto MT" panose="02040603050505030304" pitchFamily="18" charset="0"/>
                <a:ea typeface="Lustria"/>
                <a:cs typeface="Lustria"/>
                <a:sym typeface="Lustria"/>
              </a:rPr>
              <a:t>2.  RELATED WORK</a:t>
            </a:r>
            <a:endParaRPr lang="en-US" dirty="0">
              <a:latin typeface="Calisto MT" panose="02040603050505030304" pitchFamily="18" charset="0"/>
            </a:endParaRPr>
          </a:p>
        </p:txBody>
      </p:sp>
      <p:sp>
        <p:nvSpPr>
          <p:cNvPr id="115" name="Google Shape;115;p4"/>
          <p:cNvSpPr txBox="1">
            <a:spLocks noGrp="1"/>
          </p:cNvSpPr>
          <p:nvPr>
            <p:ph type="body" idx="1"/>
          </p:nvPr>
        </p:nvSpPr>
        <p:spPr>
          <a:xfrm>
            <a:off x="516035" y="1015992"/>
            <a:ext cx="7825325" cy="4293427"/>
          </a:xfrm>
          <a:prstGeom prst="rect">
            <a:avLst/>
          </a:prstGeom>
          <a:noFill/>
          <a:ln>
            <a:noFill/>
          </a:ln>
        </p:spPr>
        <p:txBody>
          <a:bodyPr spcFirstLastPara="1" wrap="square" lIns="91425" tIns="45700" rIns="91425" bIns="45700" anchor="t" anchorCtr="0">
            <a:normAutofit/>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study by Abubaker and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Babayi</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builds on previous research that used conventional approaches for cardiovascular disease identification, by employing machine learning and deep learning to advance ECG image interpretation. By combining deep learning techniques and sophisticated algorithms, their strategy outperforms conventional methods and simpler models in terms of accuracy</a:t>
            </a:r>
            <a:r>
              <a:rPr lang="en-US" sz="2100" dirty="0">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2100" dirty="0">
              <a:effectLst/>
              <a:latin typeface="Times New Roman" panose="020206030504050203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Ullah and colleagues improve the identification of cardiovascular illness by fine-tuning feature selection in machine learning models. By using more relevant feature sets to improve accuracy, this work advances earlier techniques.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116" name="Google Shape;116;p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8</a:t>
            </a:fld>
            <a:endParaRPr sz="1400" b="1">
              <a:solidFill>
                <a:schemeClr val="dk1"/>
              </a:solidFill>
              <a:latin typeface="Calisto MT" panose="02040603050505030304" pitchFamily="18" charset="0"/>
              <a:ea typeface="Lustria"/>
              <a:cs typeface="Lustria"/>
              <a:sym typeface="Lust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E97EF854-338D-2BDE-3517-ACD1C831D23B}"/>
            </a:ext>
          </a:extLst>
        </p:cNvPr>
        <p:cNvGrpSpPr/>
        <p:nvPr/>
      </p:nvGrpSpPr>
      <p:grpSpPr>
        <a:xfrm>
          <a:off x="0" y="0"/>
          <a:ext cx="0" cy="0"/>
          <a:chOff x="0" y="0"/>
          <a:chExt cx="0" cy="0"/>
        </a:xfrm>
      </p:grpSpPr>
      <p:sp>
        <p:nvSpPr>
          <p:cNvPr id="114" name="Google Shape;114;p4">
            <a:extLst>
              <a:ext uri="{FF2B5EF4-FFF2-40B4-BE49-F238E27FC236}">
                <a16:creationId xmlns:a16="http://schemas.microsoft.com/office/drawing/2014/main" id="{81568BB9-B624-A820-3C0A-7202964D132E}"/>
              </a:ext>
            </a:extLst>
          </p:cNvPr>
          <p:cNvSpPr txBox="1">
            <a:spLocks noGrp="1"/>
          </p:cNvSpPr>
          <p:nvPr>
            <p:ph type="title"/>
          </p:nvPr>
        </p:nvSpPr>
        <p:spPr>
          <a:xfrm>
            <a:off x="202676" y="120029"/>
            <a:ext cx="8738648" cy="74723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2. RELATED WORK</a:t>
            </a:r>
            <a:endParaRPr lang="en-US" dirty="0">
              <a:latin typeface="Calisto MT" panose="02040603050505030304" pitchFamily="18" charset="0"/>
            </a:endParaRPr>
          </a:p>
        </p:txBody>
      </p:sp>
      <p:sp>
        <p:nvSpPr>
          <p:cNvPr id="115" name="Google Shape;115;p4">
            <a:extLst>
              <a:ext uri="{FF2B5EF4-FFF2-40B4-BE49-F238E27FC236}">
                <a16:creationId xmlns:a16="http://schemas.microsoft.com/office/drawing/2014/main" id="{D790011A-0969-9D5F-C94E-F7B3C55065D4}"/>
              </a:ext>
            </a:extLst>
          </p:cNvPr>
          <p:cNvSpPr txBox="1">
            <a:spLocks noGrp="1"/>
          </p:cNvSpPr>
          <p:nvPr>
            <p:ph type="body" idx="1"/>
          </p:nvPr>
        </p:nvSpPr>
        <p:spPr>
          <a:xfrm>
            <a:off x="516035" y="1015992"/>
            <a:ext cx="7825325" cy="5040679"/>
          </a:xfrm>
          <a:prstGeom prst="rect">
            <a:avLst/>
          </a:prstGeom>
          <a:noFill/>
          <a:ln>
            <a:noFill/>
          </a:ln>
        </p:spPr>
        <p:txBody>
          <a:bodyPr spcFirstLastPara="1" wrap="square" lIns="91425" tIns="45700" rIns="91425" bIns="45700" anchor="t" anchorCtr="0">
            <a:normAutofit/>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By incorporating cutting-edge device getting to know techniques, Gupta et al. (2019) gift MIFH, a system intelligence framework for diagnosing heart ailment that improves on previous procedures. Compared to conventional models, their technique increases diagnostic performance and accuracy. Ahmad and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Polat</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recommend a coronary heart sickness prediction version utilizing a jellyfish optimization algorithm combined with gadget studying. This method enhances prediction accuracy and performance, building on previous optimization and system getting to know techniques for scientific diagnostics. </a:t>
            </a: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Ullah et al. (2022) use more advantageous characteristic selection techniques to provide an powerful machine mastering model for early and correct cardiac disorder prediction. Their technique improves on previous models by using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using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superior feature optimization to boom prediction accuracy and early detection skills. </a:t>
            </a:r>
          </a:p>
        </p:txBody>
      </p:sp>
      <p:sp>
        <p:nvSpPr>
          <p:cNvPr id="116" name="Google Shape;116;p4">
            <a:extLst>
              <a:ext uri="{FF2B5EF4-FFF2-40B4-BE49-F238E27FC236}">
                <a16:creationId xmlns:a16="http://schemas.microsoft.com/office/drawing/2014/main" id="{A3E58BFB-11AE-3380-3DFD-01EDBFB844F7}"/>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9</a:t>
            </a:fld>
            <a:endParaRPr sz="1400" b="1">
              <a:solidFill>
                <a:schemeClr val="dk1"/>
              </a:solidFill>
              <a:latin typeface="Calisto MT" panose="02040603050505030304" pitchFamily="18" charset="0"/>
              <a:ea typeface="Lustria"/>
              <a:cs typeface="Lustria"/>
              <a:sym typeface="Lustria"/>
            </a:endParaRPr>
          </a:p>
        </p:txBody>
      </p:sp>
    </p:spTree>
    <p:extLst>
      <p:ext uri="{BB962C8B-B14F-4D97-AF65-F5344CB8AC3E}">
        <p14:creationId xmlns:p14="http://schemas.microsoft.com/office/powerpoint/2010/main" val="916498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3C56B470-109F-3835-4550-465DDE80D7E5}"/>
            </a:ext>
          </a:extLst>
        </p:cNvPr>
        <p:cNvGrpSpPr/>
        <p:nvPr/>
      </p:nvGrpSpPr>
      <p:grpSpPr>
        <a:xfrm>
          <a:off x="0" y="0"/>
          <a:ext cx="0" cy="0"/>
          <a:chOff x="0" y="0"/>
          <a:chExt cx="0" cy="0"/>
        </a:xfrm>
      </p:grpSpPr>
      <p:sp>
        <p:nvSpPr>
          <p:cNvPr id="114" name="Google Shape;114;p4">
            <a:extLst>
              <a:ext uri="{FF2B5EF4-FFF2-40B4-BE49-F238E27FC236}">
                <a16:creationId xmlns:a16="http://schemas.microsoft.com/office/drawing/2014/main" id="{F11A9B57-5BC4-27C9-5F4E-14499021719F}"/>
              </a:ext>
            </a:extLst>
          </p:cNvPr>
          <p:cNvSpPr txBox="1">
            <a:spLocks noGrp="1"/>
          </p:cNvSpPr>
          <p:nvPr>
            <p:ph type="title"/>
          </p:nvPr>
        </p:nvSpPr>
        <p:spPr>
          <a:xfrm>
            <a:off x="202676" y="120029"/>
            <a:ext cx="8738648" cy="74723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2. RELATED WORK</a:t>
            </a:r>
            <a:endParaRPr lang="en-US" dirty="0">
              <a:latin typeface="Calisto MT" panose="02040603050505030304" pitchFamily="18" charset="0"/>
            </a:endParaRPr>
          </a:p>
        </p:txBody>
      </p:sp>
      <p:sp>
        <p:nvSpPr>
          <p:cNvPr id="115" name="Google Shape;115;p4">
            <a:extLst>
              <a:ext uri="{FF2B5EF4-FFF2-40B4-BE49-F238E27FC236}">
                <a16:creationId xmlns:a16="http://schemas.microsoft.com/office/drawing/2014/main" id="{910DD2BC-4B40-F415-539F-9884DCABE9E5}"/>
              </a:ext>
            </a:extLst>
          </p:cNvPr>
          <p:cNvSpPr txBox="1">
            <a:spLocks noGrp="1"/>
          </p:cNvSpPr>
          <p:nvPr>
            <p:ph type="body" idx="1"/>
          </p:nvPr>
        </p:nvSpPr>
        <p:spPr>
          <a:xfrm>
            <a:off x="516035" y="1015992"/>
            <a:ext cx="7825325" cy="5040679"/>
          </a:xfrm>
          <a:prstGeom prst="rect">
            <a:avLst/>
          </a:prstGeom>
          <a:noFill/>
          <a:ln>
            <a:noFill/>
          </a:ln>
        </p:spPr>
        <p:txBody>
          <a:bodyPr spcFirstLastPara="1" wrap="square" lIns="91425" tIns="45700" rIns="91425" bIns="45700" anchor="t" anchorCtr="0">
            <a:normAutofit/>
          </a:bodyPr>
          <a:lstStyle/>
          <a:p>
            <a:pPr algn="just">
              <a:lnSpc>
                <a:spcPct val="115000"/>
              </a:lnSpc>
              <a:spcAft>
                <a:spcPts val="1000"/>
              </a:spcAft>
            </a:pP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Sailasya</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and Kumari (2021) investigate the fulfillment of device studying classification methods in stroke prediction. Their research compares numerous models’ efficaciousness for you to improve forecast accuracy and dependability</a:t>
            </a:r>
          </a:p>
        </p:txBody>
      </p:sp>
      <p:sp>
        <p:nvSpPr>
          <p:cNvPr id="116" name="Google Shape;116;p4">
            <a:extLst>
              <a:ext uri="{FF2B5EF4-FFF2-40B4-BE49-F238E27FC236}">
                <a16:creationId xmlns:a16="http://schemas.microsoft.com/office/drawing/2014/main" id="{D320DE1B-F2B1-BBFD-E1B9-E65DF23E8445}"/>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10</a:t>
            </a:fld>
            <a:endParaRPr sz="1400" b="1">
              <a:solidFill>
                <a:schemeClr val="dk1"/>
              </a:solidFill>
              <a:latin typeface="Calisto MT" panose="02040603050505030304" pitchFamily="18" charset="0"/>
              <a:ea typeface="Lustria"/>
              <a:cs typeface="Lustria"/>
              <a:sym typeface="Lustria"/>
            </a:endParaRPr>
          </a:p>
        </p:txBody>
      </p:sp>
    </p:spTree>
    <p:extLst>
      <p:ext uri="{BB962C8B-B14F-4D97-AF65-F5344CB8AC3E}">
        <p14:creationId xmlns:p14="http://schemas.microsoft.com/office/powerpoint/2010/main" val="3568827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202676" y="288778"/>
            <a:ext cx="8738648" cy="63411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3. Proposed Methodology</a:t>
            </a:r>
            <a:endParaRPr lang="en-US" dirty="0">
              <a:latin typeface="Calisto MT" panose="02040603050505030304" pitchFamily="18" charset="0"/>
            </a:endParaRPr>
          </a:p>
        </p:txBody>
      </p:sp>
      <p:sp>
        <p:nvSpPr>
          <p:cNvPr id="123" name="Google Shape;123;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11</a:t>
            </a:fld>
            <a:endParaRPr sz="1400" b="1">
              <a:solidFill>
                <a:schemeClr val="dk1"/>
              </a:solidFill>
              <a:latin typeface="Calisto MT" panose="02040603050505030304" pitchFamily="18" charset="0"/>
              <a:ea typeface="Lustria"/>
              <a:cs typeface="Lustria"/>
              <a:sym typeface="Lustria"/>
            </a:endParaRPr>
          </a:p>
        </p:txBody>
      </p:sp>
      <p:pic>
        <p:nvPicPr>
          <p:cNvPr id="5" name="Picture 4">
            <a:extLst>
              <a:ext uri="{FF2B5EF4-FFF2-40B4-BE49-F238E27FC236}">
                <a16:creationId xmlns:a16="http://schemas.microsoft.com/office/drawing/2014/main" id="{FBF03530-C5DE-7D2E-A46A-A01D060C0562}"/>
              </a:ext>
            </a:extLst>
          </p:cNvPr>
          <p:cNvPicPr>
            <a:picLocks noChangeAspect="1"/>
          </p:cNvPicPr>
          <p:nvPr/>
        </p:nvPicPr>
        <p:blipFill>
          <a:blip r:embed="rId3"/>
          <a:stretch>
            <a:fillRect/>
          </a:stretch>
        </p:blipFill>
        <p:spPr>
          <a:xfrm>
            <a:off x="978309" y="1622323"/>
            <a:ext cx="7187381" cy="3283974"/>
          </a:xfrm>
          <a:prstGeom prst="rect">
            <a:avLst/>
          </a:prstGeom>
        </p:spPr>
      </p:pic>
      <p:sp>
        <p:nvSpPr>
          <p:cNvPr id="3" name="TextBox 2">
            <a:extLst>
              <a:ext uri="{FF2B5EF4-FFF2-40B4-BE49-F238E27FC236}">
                <a16:creationId xmlns:a16="http://schemas.microsoft.com/office/drawing/2014/main" id="{5BD6D129-9AF9-08F7-00A8-DDFACE28330B}"/>
              </a:ext>
            </a:extLst>
          </p:cNvPr>
          <p:cNvSpPr txBox="1"/>
          <p:nvPr/>
        </p:nvSpPr>
        <p:spPr>
          <a:xfrm>
            <a:off x="3097161" y="5791200"/>
            <a:ext cx="4532671" cy="369332"/>
          </a:xfrm>
          <a:prstGeom prst="rect">
            <a:avLst/>
          </a:prstGeom>
          <a:noFill/>
        </p:spPr>
        <p:txBody>
          <a:bodyPr wrap="square" rtlCol="0">
            <a:spAutoFit/>
          </a:bodyPr>
          <a:lstStyle/>
          <a:p>
            <a:r>
              <a:rPr lang="en-US" dirty="0"/>
              <a:t>Fig.5 Proposed Methodology</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23B82359-A82F-8099-D77C-07F2A7A1BE4C}"/>
            </a:ext>
          </a:extLst>
        </p:cNvPr>
        <p:cNvGrpSpPr/>
        <p:nvPr/>
      </p:nvGrpSpPr>
      <p:grpSpPr>
        <a:xfrm>
          <a:off x="0" y="0"/>
          <a:ext cx="0" cy="0"/>
          <a:chOff x="0" y="0"/>
          <a:chExt cx="0" cy="0"/>
        </a:xfrm>
      </p:grpSpPr>
      <p:sp>
        <p:nvSpPr>
          <p:cNvPr id="121" name="Google Shape;121;p5">
            <a:extLst>
              <a:ext uri="{FF2B5EF4-FFF2-40B4-BE49-F238E27FC236}">
                <a16:creationId xmlns:a16="http://schemas.microsoft.com/office/drawing/2014/main" id="{D004CBE7-298F-3064-50CD-BBAF7A95D78A}"/>
              </a:ext>
            </a:extLst>
          </p:cNvPr>
          <p:cNvSpPr txBox="1">
            <a:spLocks noGrp="1"/>
          </p:cNvSpPr>
          <p:nvPr>
            <p:ph type="title"/>
          </p:nvPr>
        </p:nvSpPr>
        <p:spPr>
          <a:xfrm>
            <a:off x="202676" y="288778"/>
            <a:ext cx="8738648" cy="63411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3. Proposed Methodology</a:t>
            </a:r>
            <a:endParaRPr lang="en-US" dirty="0">
              <a:latin typeface="Calisto MT" panose="02040603050505030304" pitchFamily="18" charset="0"/>
            </a:endParaRPr>
          </a:p>
        </p:txBody>
      </p:sp>
      <p:sp>
        <p:nvSpPr>
          <p:cNvPr id="123" name="Google Shape;123;p5">
            <a:extLst>
              <a:ext uri="{FF2B5EF4-FFF2-40B4-BE49-F238E27FC236}">
                <a16:creationId xmlns:a16="http://schemas.microsoft.com/office/drawing/2014/main" id="{74943377-D8DE-BA06-2D83-81656EA0C1C9}"/>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12</a:t>
            </a:fld>
            <a:endParaRPr sz="1400" b="1">
              <a:solidFill>
                <a:schemeClr val="dk1"/>
              </a:solidFill>
              <a:latin typeface="Calisto MT" panose="02040603050505030304" pitchFamily="18" charset="0"/>
              <a:ea typeface="Lustria"/>
              <a:cs typeface="Lustria"/>
              <a:sym typeface="Lustria"/>
            </a:endParaRPr>
          </a:p>
        </p:txBody>
      </p:sp>
      <p:sp>
        <p:nvSpPr>
          <p:cNvPr id="2" name="TextBox 1">
            <a:extLst>
              <a:ext uri="{FF2B5EF4-FFF2-40B4-BE49-F238E27FC236}">
                <a16:creationId xmlns:a16="http://schemas.microsoft.com/office/drawing/2014/main" id="{2C3FD84E-A191-3ED7-5800-0A5256B23B28}"/>
              </a:ext>
            </a:extLst>
          </p:cNvPr>
          <p:cNvSpPr txBox="1"/>
          <p:nvPr/>
        </p:nvSpPr>
        <p:spPr>
          <a:xfrm>
            <a:off x="291166" y="807821"/>
            <a:ext cx="8420829" cy="5345053"/>
          </a:xfrm>
          <a:prstGeom prst="rect">
            <a:avLst/>
          </a:prstGeom>
          <a:noFill/>
        </p:spPr>
        <p:txBody>
          <a:bodyPr wrap="square" rtlCol="0">
            <a:spAutoFit/>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first step is to get the raw ECG data, which depicts the heart’s electrical activity. Noised ECG signals are created by filtering raw signals to remove artifacts, baseline drift, and noise. The VGG16 convolutional neural network is used to extract excessive-degree features from denoised ECG data. The most relevant skills for categorizing and characterizing cardiac events are identified using feature selection procedures. The chosen properties were loaded into an LSTM algorithm, which is a type of recurrent neural network capable of processing sequential data. The LSTM model simplifies the process of accurately forecasting cardiovascular events by finding temporal correlations and patterns in ECG data. Finally, the trained LSTM model is used for prediction tasks, offering valuable insights on heart health and supporting medical decision-making.</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algn="just"/>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Raw ECG data often show a waveform representing the heart’s electrical activity over time. These indicators, with three separate waveforms (P wave, QRS complex, and T wave), mimic the atria and ventricles’ depolarization and repolarization processes. Raw data, including waveforms, intervals, and amplitudes, is vital for diagnosing cardiac problems such as ischemia, myocardial infarctions, and arrhythmias. Accurate interpretation of raw ECG signals is necessary for clinically assessing and treating heart-related diseases.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715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ACB5F2AA-4FF2-62C3-30DE-CFC089927E57}"/>
            </a:ext>
          </a:extLst>
        </p:cNvPr>
        <p:cNvGrpSpPr/>
        <p:nvPr/>
      </p:nvGrpSpPr>
      <p:grpSpPr>
        <a:xfrm>
          <a:off x="0" y="0"/>
          <a:ext cx="0" cy="0"/>
          <a:chOff x="0" y="0"/>
          <a:chExt cx="0" cy="0"/>
        </a:xfrm>
      </p:grpSpPr>
      <p:sp>
        <p:nvSpPr>
          <p:cNvPr id="121" name="Google Shape;121;p5">
            <a:extLst>
              <a:ext uri="{FF2B5EF4-FFF2-40B4-BE49-F238E27FC236}">
                <a16:creationId xmlns:a16="http://schemas.microsoft.com/office/drawing/2014/main" id="{525A16EF-BB76-91F6-FA34-779B5F38B5C4}"/>
              </a:ext>
            </a:extLst>
          </p:cNvPr>
          <p:cNvSpPr txBox="1">
            <a:spLocks noGrp="1"/>
          </p:cNvSpPr>
          <p:nvPr>
            <p:ph type="title"/>
          </p:nvPr>
        </p:nvSpPr>
        <p:spPr>
          <a:xfrm>
            <a:off x="202676" y="288778"/>
            <a:ext cx="8738648" cy="63411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3. Proposed Methodology</a:t>
            </a:r>
            <a:endParaRPr lang="en-US" dirty="0">
              <a:latin typeface="Calisto MT" panose="02040603050505030304" pitchFamily="18" charset="0"/>
            </a:endParaRPr>
          </a:p>
        </p:txBody>
      </p:sp>
      <p:sp>
        <p:nvSpPr>
          <p:cNvPr id="123" name="Google Shape;123;p5">
            <a:extLst>
              <a:ext uri="{FF2B5EF4-FFF2-40B4-BE49-F238E27FC236}">
                <a16:creationId xmlns:a16="http://schemas.microsoft.com/office/drawing/2014/main" id="{566EDC56-63EC-4578-5A61-C4CEADA7B447}"/>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13</a:t>
            </a:fld>
            <a:endParaRPr sz="1400" b="1">
              <a:solidFill>
                <a:schemeClr val="dk1"/>
              </a:solidFill>
              <a:latin typeface="Calisto MT" panose="02040603050505030304" pitchFamily="18" charset="0"/>
              <a:ea typeface="Lustria"/>
              <a:cs typeface="Lustria"/>
              <a:sym typeface="Lustria"/>
            </a:endParaRPr>
          </a:p>
        </p:txBody>
      </p:sp>
      <p:sp>
        <p:nvSpPr>
          <p:cNvPr id="2" name="TextBox 1">
            <a:extLst>
              <a:ext uri="{FF2B5EF4-FFF2-40B4-BE49-F238E27FC236}">
                <a16:creationId xmlns:a16="http://schemas.microsoft.com/office/drawing/2014/main" id="{9B8F497B-F5C2-407C-9576-FA9DD626D33D}"/>
              </a:ext>
            </a:extLst>
          </p:cNvPr>
          <p:cNvSpPr txBox="1"/>
          <p:nvPr/>
        </p:nvSpPr>
        <p:spPr>
          <a:xfrm>
            <a:off x="361585" y="1063459"/>
            <a:ext cx="8420829" cy="3126562"/>
          </a:xfrm>
          <a:prstGeom prst="rect">
            <a:avLst/>
          </a:prstGeom>
          <a:noFill/>
        </p:spPr>
        <p:txBody>
          <a:bodyPr wrap="square" rtlCol="0">
            <a:spAutoFit/>
          </a:bodyPr>
          <a:lstStyle/>
          <a:p>
            <a:pPr algn="just">
              <a:lnSpc>
                <a:spcPct val="115000"/>
              </a:lnSpc>
              <a:spcAft>
                <a:spcPts val="1000"/>
              </a:spcAft>
            </a:pPr>
            <a:endParaRPr lang="en-US" sz="1800" b="1"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b="1" dirty="0">
                <a:effectLst/>
                <a:latin typeface="Cambria" panose="02040503050406030204" pitchFamily="18" charset="0"/>
                <a:ea typeface="MS Mincho" panose="02020609040205080304" pitchFamily="49" charset="-128"/>
                <a:cs typeface="Times New Roman" panose="02020603050405020304" pitchFamily="18" charset="0"/>
              </a:rPr>
              <a:t>3.1 Preprocessing the ECG signal</a:t>
            </a:r>
          </a:p>
          <a:p>
            <a:pPr algn="just">
              <a:lnSpc>
                <a:spcPct val="115000"/>
              </a:lnSpc>
              <a:spcAft>
                <a:spcPts val="1000"/>
              </a:spcAft>
            </a:pPr>
            <a:endParaRPr lang="en-US" b="1" dirty="0">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collected ECG images vary in size, contrast, and sharpness levels. Filtering removes baseline float and noise from the dataset, ensuring signal clarity and standardization. Separating signals into heartbeats or intervals simplifies feature extraction. To provide consistency, normalization standardizes signal amplitudes across recordings.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p:txBody>
      </p:sp>
      <p:pic>
        <p:nvPicPr>
          <p:cNvPr id="3" name="Picture 2">
            <a:extLst>
              <a:ext uri="{FF2B5EF4-FFF2-40B4-BE49-F238E27FC236}">
                <a16:creationId xmlns:a16="http://schemas.microsoft.com/office/drawing/2014/main" id="{82E7B6F2-3E02-AD94-FC6E-ED4AF7CB6998}"/>
              </a:ext>
            </a:extLst>
          </p:cNvPr>
          <p:cNvPicPr>
            <a:picLocks noChangeAspect="1"/>
          </p:cNvPicPr>
          <p:nvPr/>
        </p:nvPicPr>
        <p:blipFill>
          <a:blip r:embed="rId3"/>
          <a:stretch>
            <a:fillRect/>
          </a:stretch>
        </p:blipFill>
        <p:spPr>
          <a:xfrm>
            <a:off x="1876050" y="3961626"/>
            <a:ext cx="5529551" cy="1963082"/>
          </a:xfrm>
          <a:prstGeom prst="rect">
            <a:avLst/>
          </a:prstGeom>
        </p:spPr>
      </p:pic>
      <p:sp>
        <p:nvSpPr>
          <p:cNvPr id="4" name="TextBox 3">
            <a:extLst>
              <a:ext uri="{FF2B5EF4-FFF2-40B4-BE49-F238E27FC236}">
                <a16:creationId xmlns:a16="http://schemas.microsoft.com/office/drawing/2014/main" id="{5C4BAA8F-A78A-A077-77CC-0871EFB11041}"/>
              </a:ext>
            </a:extLst>
          </p:cNvPr>
          <p:cNvSpPr txBox="1"/>
          <p:nvPr/>
        </p:nvSpPr>
        <p:spPr>
          <a:xfrm>
            <a:off x="2861186" y="6272981"/>
            <a:ext cx="4827639" cy="369332"/>
          </a:xfrm>
          <a:prstGeom prst="rect">
            <a:avLst/>
          </a:prstGeom>
          <a:noFill/>
        </p:spPr>
        <p:txBody>
          <a:bodyPr wrap="square" rtlCol="0">
            <a:spAutoFit/>
          </a:bodyPr>
          <a:lstStyle/>
          <a:p>
            <a:r>
              <a:rPr lang="en-US" dirty="0"/>
              <a:t>Fig. 6 Original and adjusted ECG signal pictures</a:t>
            </a:r>
            <a:endParaRPr lang="en-IN" dirty="0"/>
          </a:p>
        </p:txBody>
      </p:sp>
    </p:spTree>
    <p:extLst>
      <p:ext uri="{BB962C8B-B14F-4D97-AF65-F5344CB8AC3E}">
        <p14:creationId xmlns:p14="http://schemas.microsoft.com/office/powerpoint/2010/main" val="2282123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1CC2D2CD-E5E6-3EB6-252D-0B41AD045049}"/>
            </a:ext>
          </a:extLst>
        </p:cNvPr>
        <p:cNvGrpSpPr/>
        <p:nvPr/>
      </p:nvGrpSpPr>
      <p:grpSpPr>
        <a:xfrm>
          <a:off x="0" y="0"/>
          <a:ext cx="0" cy="0"/>
          <a:chOff x="0" y="0"/>
          <a:chExt cx="0" cy="0"/>
        </a:xfrm>
      </p:grpSpPr>
      <p:sp>
        <p:nvSpPr>
          <p:cNvPr id="121" name="Google Shape;121;p5">
            <a:extLst>
              <a:ext uri="{FF2B5EF4-FFF2-40B4-BE49-F238E27FC236}">
                <a16:creationId xmlns:a16="http://schemas.microsoft.com/office/drawing/2014/main" id="{C50ED22D-356C-2191-6EAC-47B8F03A17EC}"/>
              </a:ext>
            </a:extLst>
          </p:cNvPr>
          <p:cNvSpPr txBox="1">
            <a:spLocks noGrp="1"/>
          </p:cNvSpPr>
          <p:nvPr>
            <p:ph type="title"/>
          </p:nvPr>
        </p:nvSpPr>
        <p:spPr>
          <a:xfrm>
            <a:off x="202676" y="288778"/>
            <a:ext cx="8738648" cy="63411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3. Proposed Methodology</a:t>
            </a:r>
            <a:endParaRPr lang="en-US" dirty="0">
              <a:latin typeface="Calisto MT" panose="02040603050505030304" pitchFamily="18" charset="0"/>
            </a:endParaRPr>
          </a:p>
        </p:txBody>
      </p:sp>
      <p:sp>
        <p:nvSpPr>
          <p:cNvPr id="123" name="Google Shape;123;p5">
            <a:extLst>
              <a:ext uri="{FF2B5EF4-FFF2-40B4-BE49-F238E27FC236}">
                <a16:creationId xmlns:a16="http://schemas.microsoft.com/office/drawing/2014/main" id="{AF8D8A3B-E08D-125D-F6AC-878B4ACA6ED7}"/>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14</a:t>
            </a:fld>
            <a:endParaRPr sz="1400" b="1">
              <a:solidFill>
                <a:schemeClr val="dk1"/>
              </a:solidFill>
              <a:latin typeface="Calisto MT" panose="02040603050505030304" pitchFamily="18" charset="0"/>
              <a:ea typeface="Lustria"/>
              <a:cs typeface="Lustria"/>
              <a:sym typeface="Lustria"/>
            </a:endParaRPr>
          </a:p>
        </p:txBody>
      </p:sp>
      <p:sp>
        <p:nvSpPr>
          <p:cNvPr id="2" name="TextBox 1">
            <a:extLst>
              <a:ext uri="{FF2B5EF4-FFF2-40B4-BE49-F238E27FC236}">
                <a16:creationId xmlns:a16="http://schemas.microsoft.com/office/drawing/2014/main" id="{3B71F7C2-FC27-32B2-074A-78B5075B77DF}"/>
              </a:ext>
            </a:extLst>
          </p:cNvPr>
          <p:cNvSpPr txBox="1"/>
          <p:nvPr/>
        </p:nvSpPr>
        <p:spPr>
          <a:xfrm>
            <a:off x="291166" y="807821"/>
            <a:ext cx="8420829" cy="3190232"/>
          </a:xfrm>
          <a:prstGeom prst="rect">
            <a:avLst/>
          </a:prstGeom>
          <a:noFill/>
        </p:spPr>
        <p:txBody>
          <a:bodyPr wrap="square" rtlCol="0">
            <a:spAutoFit/>
          </a:bodyPr>
          <a:lstStyle/>
          <a:p>
            <a:pPr algn="just">
              <a:lnSpc>
                <a:spcPct val="115000"/>
              </a:lnSpc>
              <a:spcAft>
                <a:spcPts val="1000"/>
              </a:spcAft>
            </a:pPr>
            <a:endParaRPr lang="en-US" dirty="0">
              <a:latin typeface="Times New Roman" panose="02020603050405020304" pitchFamily="18" charset="0"/>
              <a:cs typeface="Times New Roman" panose="02020603050405020304" pitchFamily="18" charset="0"/>
            </a:endParaRPr>
          </a:p>
          <a:p>
            <a:pPr algn="just">
              <a:lnSpc>
                <a:spcPct val="115000"/>
              </a:lnSpc>
              <a:spcAft>
                <a:spcPts val="1000"/>
              </a:spcAft>
            </a:pPr>
            <a:endParaRPr lang="en-US" dirty="0">
              <a:latin typeface="Times New Roman" panose="02020603050405020304" pitchFamily="18" charset="0"/>
              <a:cs typeface="Times New Roman" panose="02020603050405020304" pitchFamily="18" charset="0"/>
            </a:endParaRPr>
          </a:p>
          <a:p>
            <a:pPr algn="just">
              <a:lnSpc>
                <a:spcPct val="115000"/>
              </a:lnSpc>
              <a:spcAft>
                <a:spcPts val="1000"/>
              </a:spcAft>
            </a:pPr>
            <a:r>
              <a:rPr lang="en-US" dirty="0">
                <a:latin typeface="Times New Roman" panose="02020603050405020304" pitchFamily="18" charset="0"/>
                <a:cs typeface="Times New Roman" panose="02020603050405020304" pitchFamily="18" charset="0"/>
              </a:rPr>
              <a:t>Using Wavelet Transform to remove noise from ECG data involves breaking down the sign into frequency components, identifying patterns in the noise at different scales, and filtering out particular noise while preserving significant ECG </a:t>
            </a:r>
            <a:r>
              <a:rPr lang="en-US" dirty="0" err="1">
                <a:latin typeface="Times New Roman" panose="02020603050405020304" pitchFamily="18" charset="0"/>
                <a:cs typeface="Times New Roman" panose="02020603050405020304" pitchFamily="18" charset="0"/>
              </a:rPr>
              <a:t>characteristics.Noise</a:t>
            </a:r>
            <a:r>
              <a:rPr lang="en-US" dirty="0">
                <a:latin typeface="Times New Roman" panose="02020603050405020304" pitchFamily="18" charset="0"/>
                <a:cs typeface="Times New Roman" panose="02020603050405020304" pitchFamily="18" charset="0"/>
              </a:rPr>
              <a:t> distortions such as baseline drift and muscle interference can be minimized by thresholding wavelet coefficients and reconstructing the </a:t>
            </a:r>
            <a:r>
              <a:rPr lang="en-US" dirty="0" err="1">
                <a:latin typeface="Times New Roman" panose="02020603050405020304" pitchFamily="18" charset="0"/>
                <a:cs typeface="Times New Roman" panose="02020603050405020304" pitchFamily="18" charset="0"/>
              </a:rPr>
              <a:t>signal.Wavelet</a:t>
            </a:r>
            <a:r>
              <a:rPr lang="en-US" dirty="0">
                <a:latin typeface="Times New Roman" panose="02020603050405020304" pitchFamily="18" charset="0"/>
                <a:cs typeface="Times New Roman" panose="02020603050405020304" pitchFamily="18" charset="0"/>
              </a:rPr>
              <a:t> denoising is a versatile approach for improving the quality of ECG recordings, allowing for accurate diagnosis and analysis of </a:t>
            </a:r>
            <a:r>
              <a:rPr lang="en-US" dirty="0" err="1">
                <a:latin typeface="Times New Roman" panose="02020603050405020304" pitchFamily="18" charset="0"/>
                <a:cs typeface="Times New Roman" panose="02020603050405020304" pitchFamily="18" charset="0"/>
              </a:rPr>
              <a:t>inclinical</a:t>
            </a:r>
            <a:r>
              <a:rPr lang="en-US" dirty="0">
                <a:latin typeface="Times New Roman" panose="02020603050405020304" pitchFamily="18" charset="0"/>
                <a:cs typeface="Times New Roman" panose="02020603050405020304" pitchFamily="18" charset="0"/>
              </a:rPr>
              <a:t> conditions.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2215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90F0A3B1-B45F-E74C-3B46-5541DE6F54B9}"/>
            </a:ext>
          </a:extLst>
        </p:cNvPr>
        <p:cNvGrpSpPr/>
        <p:nvPr/>
      </p:nvGrpSpPr>
      <p:grpSpPr>
        <a:xfrm>
          <a:off x="0" y="0"/>
          <a:ext cx="0" cy="0"/>
          <a:chOff x="0" y="0"/>
          <a:chExt cx="0" cy="0"/>
        </a:xfrm>
      </p:grpSpPr>
      <p:sp>
        <p:nvSpPr>
          <p:cNvPr id="121" name="Google Shape;121;p5">
            <a:extLst>
              <a:ext uri="{FF2B5EF4-FFF2-40B4-BE49-F238E27FC236}">
                <a16:creationId xmlns:a16="http://schemas.microsoft.com/office/drawing/2014/main" id="{48837FCD-243A-2810-DE87-521CF5996421}"/>
              </a:ext>
            </a:extLst>
          </p:cNvPr>
          <p:cNvSpPr txBox="1">
            <a:spLocks noGrp="1"/>
          </p:cNvSpPr>
          <p:nvPr>
            <p:ph type="title"/>
          </p:nvPr>
        </p:nvSpPr>
        <p:spPr>
          <a:xfrm>
            <a:off x="202676" y="288778"/>
            <a:ext cx="8738648" cy="63411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3. Proposed Methodology</a:t>
            </a:r>
            <a:endParaRPr lang="en-US" dirty="0">
              <a:latin typeface="Calisto MT" panose="02040603050505030304" pitchFamily="18" charset="0"/>
            </a:endParaRPr>
          </a:p>
        </p:txBody>
      </p:sp>
      <p:sp>
        <p:nvSpPr>
          <p:cNvPr id="123" name="Google Shape;123;p5">
            <a:extLst>
              <a:ext uri="{FF2B5EF4-FFF2-40B4-BE49-F238E27FC236}">
                <a16:creationId xmlns:a16="http://schemas.microsoft.com/office/drawing/2014/main" id="{983DB176-4E01-512C-1B59-6BED48E77685}"/>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15</a:t>
            </a:fld>
            <a:endParaRPr sz="1400" b="1">
              <a:solidFill>
                <a:schemeClr val="dk1"/>
              </a:solidFill>
              <a:latin typeface="Calisto MT" panose="02040603050505030304" pitchFamily="18" charset="0"/>
              <a:ea typeface="Lustria"/>
              <a:cs typeface="Lustria"/>
              <a:sym typeface="Lustria"/>
            </a:endParaRPr>
          </a:p>
        </p:txBody>
      </p:sp>
      <p:sp>
        <p:nvSpPr>
          <p:cNvPr id="2" name="TextBox 1">
            <a:extLst>
              <a:ext uri="{FF2B5EF4-FFF2-40B4-BE49-F238E27FC236}">
                <a16:creationId xmlns:a16="http://schemas.microsoft.com/office/drawing/2014/main" id="{E1A437B2-ACCB-27F4-D8A4-F0D4E51D315B}"/>
              </a:ext>
            </a:extLst>
          </p:cNvPr>
          <p:cNvSpPr txBox="1"/>
          <p:nvPr/>
        </p:nvSpPr>
        <p:spPr>
          <a:xfrm>
            <a:off x="291166" y="807821"/>
            <a:ext cx="8420829" cy="5420074"/>
          </a:xfrm>
          <a:prstGeom prst="rect">
            <a:avLst/>
          </a:prstGeom>
          <a:noFill/>
        </p:spPr>
        <p:txBody>
          <a:bodyPr wrap="square" rtlCol="0">
            <a:spAutoFit/>
          </a:bodyPr>
          <a:lstStyle/>
          <a:p>
            <a:pPr algn="just">
              <a:lnSpc>
                <a:spcPct val="115000"/>
              </a:lnSpc>
              <a:spcAft>
                <a:spcPts val="1000"/>
              </a:spcAft>
            </a:pPr>
            <a:r>
              <a:rPr lang="en-US" sz="1800" b="1" dirty="0">
                <a:effectLst/>
                <a:latin typeface="Cambria" panose="02040503050406030204" pitchFamily="18" charset="0"/>
                <a:ea typeface="MS Mincho" panose="02020609040205080304" pitchFamily="49" charset="-128"/>
                <a:cs typeface="Times New Roman" panose="02020603050405020304" pitchFamily="18" charset="0"/>
              </a:rPr>
              <a:t>3.2 Feature Extraction</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dirty="0">
                <a:latin typeface="Times New Roman" panose="02020603050405020304" pitchFamily="18" charset="0"/>
                <a:cs typeface="Times New Roman" panose="02020603050405020304" pitchFamily="18" charset="0"/>
              </a:rPr>
              <a:t>VGG16 function extraction uses a pretrained model trained on the ImageNet dataset to extract high-level functions from images. Load VGG16 without its pinnacle class layers and select an output from an advanced convolutional layer for analysis. The photo is loaded, scaled to 224 pixels, turned into an array, and preprocessed to meet VGG16’s entry conditions. The version extracts characteristic maps from preprocessed photographs. If necessary, these function mappings can be flattened to form a one-dimensional function vector. VGG16’s powerful feature extraction capabilities may be used for many tasks such as object recognition, image classification, clustering, and more.</a:t>
            </a:r>
          </a:p>
          <a:p>
            <a:pPr algn="just">
              <a:lnSpc>
                <a:spcPct val="115000"/>
              </a:lnSpc>
              <a:spcAft>
                <a:spcPts val="1000"/>
              </a:spcAft>
            </a:pPr>
            <a:r>
              <a:rPr lang="en-US" dirty="0">
                <a:latin typeface="Times New Roman" panose="02020603050405020304" pitchFamily="18" charset="0"/>
                <a:cs typeface="Times New Roman" panose="02020603050405020304" pitchFamily="18" charset="0"/>
              </a:rPr>
              <a:t>Using VGG16 for ECG sign function extraction is useful because it uses the pretrained version’s convolutional layers to extract complex, hierarchical capabilities from ECG recordings. This method enhances accuracy in identifying cardiovascular problems, decreases the need for large labeled datasets, and increases generalization to new data. VGG16 automates characteristic extraction, making the evaluation process more efficient and effective in diagnosing coronary heart problems.</a:t>
            </a:r>
          </a:p>
        </p:txBody>
      </p:sp>
    </p:spTree>
    <p:extLst>
      <p:ext uri="{BB962C8B-B14F-4D97-AF65-F5344CB8AC3E}">
        <p14:creationId xmlns:p14="http://schemas.microsoft.com/office/powerpoint/2010/main" val="2111943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AD6FA9DB-C3CE-89C0-86D9-79A34CC3A6A9}"/>
            </a:ext>
          </a:extLst>
        </p:cNvPr>
        <p:cNvGrpSpPr/>
        <p:nvPr/>
      </p:nvGrpSpPr>
      <p:grpSpPr>
        <a:xfrm>
          <a:off x="0" y="0"/>
          <a:ext cx="0" cy="0"/>
          <a:chOff x="0" y="0"/>
          <a:chExt cx="0" cy="0"/>
        </a:xfrm>
      </p:grpSpPr>
      <p:sp>
        <p:nvSpPr>
          <p:cNvPr id="121" name="Google Shape;121;p5">
            <a:extLst>
              <a:ext uri="{FF2B5EF4-FFF2-40B4-BE49-F238E27FC236}">
                <a16:creationId xmlns:a16="http://schemas.microsoft.com/office/drawing/2014/main" id="{983367AE-1047-7D87-7030-2C4E43816F8A}"/>
              </a:ext>
            </a:extLst>
          </p:cNvPr>
          <p:cNvSpPr txBox="1">
            <a:spLocks noGrp="1"/>
          </p:cNvSpPr>
          <p:nvPr>
            <p:ph type="title"/>
          </p:nvPr>
        </p:nvSpPr>
        <p:spPr>
          <a:xfrm>
            <a:off x="202676" y="288778"/>
            <a:ext cx="8738648" cy="63411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3. Proposed Methodology</a:t>
            </a:r>
            <a:endParaRPr lang="en-US" dirty="0">
              <a:latin typeface="Calisto MT" panose="02040603050505030304" pitchFamily="18" charset="0"/>
            </a:endParaRPr>
          </a:p>
        </p:txBody>
      </p:sp>
      <p:sp>
        <p:nvSpPr>
          <p:cNvPr id="123" name="Google Shape;123;p5">
            <a:extLst>
              <a:ext uri="{FF2B5EF4-FFF2-40B4-BE49-F238E27FC236}">
                <a16:creationId xmlns:a16="http://schemas.microsoft.com/office/drawing/2014/main" id="{C4482D03-6D34-4588-6167-749E9B0D5F19}"/>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16</a:t>
            </a:fld>
            <a:endParaRPr sz="1400" b="1">
              <a:solidFill>
                <a:schemeClr val="dk1"/>
              </a:solidFill>
              <a:latin typeface="Calisto MT" panose="02040603050505030304" pitchFamily="18" charset="0"/>
              <a:ea typeface="Lustria"/>
              <a:cs typeface="Lustria"/>
              <a:sym typeface="Lustria"/>
            </a:endParaRPr>
          </a:p>
        </p:txBody>
      </p:sp>
      <p:pic>
        <p:nvPicPr>
          <p:cNvPr id="3" name="Picture 2">
            <a:extLst>
              <a:ext uri="{FF2B5EF4-FFF2-40B4-BE49-F238E27FC236}">
                <a16:creationId xmlns:a16="http://schemas.microsoft.com/office/drawing/2014/main" id="{6226651E-DBF0-F5D2-641D-444436F732F5}"/>
              </a:ext>
            </a:extLst>
          </p:cNvPr>
          <p:cNvPicPr>
            <a:picLocks noChangeAspect="1"/>
          </p:cNvPicPr>
          <p:nvPr/>
        </p:nvPicPr>
        <p:blipFill>
          <a:blip r:embed="rId3"/>
          <a:stretch>
            <a:fillRect/>
          </a:stretch>
        </p:blipFill>
        <p:spPr>
          <a:xfrm>
            <a:off x="1032387" y="1275735"/>
            <a:ext cx="6784259" cy="4306529"/>
          </a:xfrm>
          <a:prstGeom prst="rect">
            <a:avLst/>
          </a:prstGeom>
        </p:spPr>
      </p:pic>
      <p:sp>
        <p:nvSpPr>
          <p:cNvPr id="4" name="TextBox 3">
            <a:extLst>
              <a:ext uri="{FF2B5EF4-FFF2-40B4-BE49-F238E27FC236}">
                <a16:creationId xmlns:a16="http://schemas.microsoft.com/office/drawing/2014/main" id="{2AEB213A-27AC-F92D-4D75-D5B8D57B6D9C}"/>
              </a:ext>
            </a:extLst>
          </p:cNvPr>
          <p:cNvSpPr txBox="1"/>
          <p:nvPr/>
        </p:nvSpPr>
        <p:spPr>
          <a:xfrm>
            <a:off x="2703871" y="5968181"/>
            <a:ext cx="3460955" cy="369332"/>
          </a:xfrm>
          <a:prstGeom prst="rect">
            <a:avLst/>
          </a:prstGeom>
          <a:noFill/>
        </p:spPr>
        <p:txBody>
          <a:bodyPr wrap="square" rtlCol="0">
            <a:spAutoFit/>
          </a:bodyPr>
          <a:lstStyle/>
          <a:p>
            <a:r>
              <a:rPr lang="en-IN" dirty="0"/>
              <a:t> Fig. 7. VGG16 Architecture</a:t>
            </a:r>
          </a:p>
        </p:txBody>
      </p:sp>
    </p:spTree>
    <p:extLst>
      <p:ext uri="{BB962C8B-B14F-4D97-AF65-F5344CB8AC3E}">
        <p14:creationId xmlns:p14="http://schemas.microsoft.com/office/powerpoint/2010/main" val="250040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555685CB-4DA1-8159-4A37-23065A08078A}"/>
            </a:ext>
          </a:extLst>
        </p:cNvPr>
        <p:cNvGrpSpPr/>
        <p:nvPr/>
      </p:nvGrpSpPr>
      <p:grpSpPr>
        <a:xfrm>
          <a:off x="0" y="0"/>
          <a:ext cx="0" cy="0"/>
          <a:chOff x="0" y="0"/>
          <a:chExt cx="0" cy="0"/>
        </a:xfrm>
      </p:grpSpPr>
      <p:sp>
        <p:nvSpPr>
          <p:cNvPr id="121" name="Google Shape;121;p5">
            <a:extLst>
              <a:ext uri="{FF2B5EF4-FFF2-40B4-BE49-F238E27FC236}">
                <a16:creationId xmlns:a16="http://schemas.microsoft.com/office/drawing/2014/main" id="{46B29FE6-151E-F2E7-3E38-4F627ADAA2A2}"/>
              </a:ext>
            </a:extLst>
          </p:cNvPr>
          <p:cNvSpPr txBox="1">
            <a:spLocks noGrp="1"/>
          </p:cNvSpPr>
          <p:nvPr>
            <p:ph type="title"/>
          </p:nvPr>
        </p:nvSpPr>
        <p:spPr>
          <a:xfrm>
            <a:off x="202676" y="288778"/>
            <a:ext cx="8738648" cy="63411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3. Proposed Methodology</a:t>
            </a:r>
            <a:endParaRPr lang="en-US" dirty="0">
              <a:latin typeface="Calisto MT" panose="02040603050505030304" pitchFamily="18" charset="0"/>
            </a:endParaRPr>
          </a:p>
        </p:txBody>
      </p:sp>
      <p:sp>
        <p:nvSpPr>
          <p:cNvPr id="123" name="Google Shape;123;p5">
            <a:extLst>
              <a:ext uri="{FF2B5EF4-FFF2-40B4-BE49-F238E27FC236}">
                <a16:creationId xmlns:a16="http://schemas.microsoft.com/office/drawing/2014/main" id="{4F81DAA3-288A-0FB4-F0D2-AD13F9ADEC2B}"/>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17</a:t>
            </a:fld>
            <a:endParaRPr sz="1400" b="1">
              <a:solidFill>
                <a:schemeClr val="dk1"/>
              </a:solidFill>
              <a:latin typeface="Calisto MT" panose="02040603050505030304" pitchFamily="18" charset="0"/>
              <a:ea typeface="Lustria"/>
              <a:cs typeface="Lustria"/>
              <a:sym typeface="Lustria"/>
            </a:endParaRPr>
          </a:p>
        </p:txBody>
      </p:sp>
      <p:sp>
        <p:nvSpPr>
          <p:cNvPr id="2" name="TextBox 1">
            <a:extLst>
              <a:ext uri="{FF2B5EF4-FFF2-40B4-BE49-F238E27FC236}">
                <a16:creationId xmlns:a16="http://schemas.microsoft.com/office/drawing/2014/main" id="{ABFD0EE4-C876-D55E-CD68-E2B4FA94B7AA}"/>
              </a:ext>
            </a:extLst>
          </p:cNvPr>
          <p:cNvSpPr txBox="1"/>
          <p:nvPr/>
        </p:nvSpPr>
        <p:spPr>
          <a:xfrm>
            <a:off x="361585" y="1368260"/>
            <a:ext cx="8420829" cy="3697487"/>
          </a:xfrm>
          <a:prstGeom prst="rect">
            <a:avLst/>
          </a:prstGeom>
          <a:noFill/>
        </p:spPr>
        <p:txBody>
          <a:bodyPr wrap="square" rtlCol="0">
            <a:spAutoFit/>
          </a:bodyPr>
          <a:lstStyle/>
          <a:p>
            <a:pPr>
              <a:lnSpc>
                <a:spcPct val="115000"/>
              </a:lnSpc>
              <a:spcAft>
                <a:spcPts val="1000"/>
              </a:spcAft>
            </a:pPr>
            <a:r>
              <a:rPr lang="en-US" sz="1800" b="1" dirty="0">
                <a:effectLst/>
                <a:latin typeface="Cambria" panose="02040503050406030204" pitchFamily="18" charset="0"/>
                <a:ea typeface="MS Mincho" panose="02020609040205080304" pitchFamily="49" charset="-128"/>
                <a:cs typeface="Times New Roman" panose="02020603050405020304" pitchFamily="18" charset="0"/>
              </a:rPr>
              <a:t>3.3 LSTM Algorithm</a:t>
            </a:r>
            <a:endParaRPr lang="en-IN" b="1" dirty="0">
              <a:latin typeface="Cambria" panose="02040503050406030204" pitchFamily="18" charset="0"/>
              <a:ea typeface="MS Mincho" panose="02020609040205080304" pitchFamily="49" charset="-128"/>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LSTM, a recurrent neural network, is used to diagnose cardiovascular diseases by analyzing sequential data such as ECG signals. It excels at capturing long-term dependencies, which are crucial for understanding the context of cardiac rhythm abnormalities. LSTM networks are trained on annotated ECG datasets to accurately discriminate between normal and abnormal cardiac rhythms. This assists clinicians in early identification and diagnosis of many cardiovascular diseases. LSTM’s ability to process temporal data makes it a valuable tool for improving diagnostic abilities and patient outcomes in cardiovascular healthcare. LSTM networks may detect patterns and spatial relationships in photos by considering them as sequential recordings during image processing.</a:t>
            </a:r>
          </a:p>
        </p:txBody>
      </p:sp>
    </p:spTree>
    <p:extLst>
      <p:ext uri="{BB962C8B-B14F-4D97-AF65-F5344CB8AC3E}">
        <p14:creationId xmlns:p14="http://schemas.microsoft.com/office/powerpoint/2010/main" val="2091043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BBA5A53E-2683-6450-CBEB-A5282773F53F}"/>
            </a:ext>
          </a:extLst>
        </p:cNvPr>
        <p:cNvGrpSpPr/>
        <p:nvPr/>
      </p:nvGrpSpPr>
      <p:grpSpPr>
        <a:xfrm>
          <a:off x="0" y="0"/>
          <a:ext cx="0" cy="0"/>
          <a:chOff x="0" y="0"/>
          <a:chExt cx="0" cy="0"/>
        </a:xfrm>
      </p:grpSpPr>
      <p:sp>
        <p:nvSpPr>
          <p:cNvPr id="121" name="Google Shape;121;p5">
            <a:extLst>
              <a:ext uri="{FF2B5EF4-FFF2-40B4-BE49-F238E27FC236}">
                <a16:creationId xmlns:a16="http://schemas.microsoft.com/office/drawing/2014/main" id="{7787D8BA-970F-ADCC-8810-83DD83D089D4}"/>
              </a:ext>
            </a:extLst>
          </p:cNvPr>
          <p:cNvSpPr txBox="1">
            <a:spLocks noGrp="1"/>
          </p:cNvSpPr>
          <p:nvPr>
            <p:ph type="title"/>
          </p:nvPr>
        </p:nvSpPr>
        <p:spPr>
          <a:xfrm>
            <a:off x="202676" y="288778"/>
            <a:ext cx="8738648" cy="63411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3. Proposed Methodology</a:t>
            </a:r>
            <a:endParaRPr lang="en-US" dirty="0">
              <a:latin typeface="Calisto MT" panose="02040603050505030304" pitchFamily="18" charset="0"/>
            </a:endParaRPr>
          </a:p>
        </p:txBody>
      </p:sp>
      <p:sp>
        <p:nvSpPr>
          <p:cNvPr id="123" name="Google Shape;123;p5">
            <a:extLst>
              <a:ext uri="{FF2B5EF4-FFF2-40B4-BE49-F238E27FC236}">
                <a16:creationId xmlns:a16="http://schemas.microsoft.com/office/drawing/2014/main" id="{BB349D32-2EF5-74DA-D9BA-DF183F1AB4E6}"/>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18</a:t>
            </a:fld>
            <a:endParaRPr sz="1400" b="1">
              <a:solidFill>
                <a:schemeClr val="dk1"/>
              </a:solidFill>
              <a:latin typeface="Calisto MT" panose="02040603050505030304" pitchFamily="18" charset="0"/>
              <a:ea typeface="Lustria"/>
              <a:cs typeface="Lustria"/>
              <a:sym typeface="Lustria"/>
            </a:endParaRPr>
          </a:p>
        </p:txBody>
      </p:sp>
      <p:sp>
        <p:nvSpPr>
          <p:cNvPr id="2" name="TextBox 1">
            <a:extLst>
              <a:ext uri="{FF2B5EF4-FFF2-40B4-BE49-F238E27FC236}">
                <a16:creationId xmlns:a16="http://schemas.microsoft.com/office/drawing/2014/main" id="{CAB580FE-B102-7D46-16A0-F2791CD5369B}"/>
              </a:ext>
            </a:extLst>
          </p:cNvPr>
          <p:cNvSpPr txBox="1"/>
          <p:nvPr/>
        </p:nvSpPr>
        <p:spPr>
          <a:xfrm>
            <a:off x="202676" y="1191279"/>
            <a:ext cx="8420829" cy="2613601"/>
          </a:xfrm>
          <a:prstGeom prst="rect">
            <a:avLst/>
          </a:prstGeom>
          <a:noFill/>
        </p:spPr>
        <p:txBody>
          <a:bodyPr wrap="square" rtlCol="0">
            <a:spAutoFit/>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LSTM, a recurrent neural network, is used to identify cardiovascular disorders by processing sequential data such as ECG signals. It captures long-term dependencies, which are critical for recognizing heart rhythm problems. LSTMs are trained on ECG datasets to differentiate between normal and abnormal rhythms, which aids in early analysis. Their capacity to process temporal information improves diagnostic skills in healthcare. Furthermore, in image processing, LSTMs can detect spatial patterns by considering images as sequences, which aids with tasks such as classification and segmentation by determining relationships throughout an image.</a:t>
            </a:r>
          </a:p>
        </p:txBody>
      </p:sp>
      <p:pic>
        <p:nvPicPr>
          <p:cNvPr id="3" name="Picture 2">
            <a:extLst>
              <a:ext uri="{FF2B5EF4-FFF2-40B4-BE49-F238E27FC236}">
                <a16:creationId xmlns:a16="http://schemas.microsoft.com/office/drawing/2014/main" id="{414E83E2-0AAC-F198-8DCC-8336DEB4C125}"/>
              </a:ext>
            </a:extLst>
          </p:cNvPr>
          <p:cNvPicPr>
            <a:picLocks noChangeAspect="1"/>
          </p:cNvPicPr>
          <p:nvPr/>
        </p:nvPicPr>
        <p:blipFill>
          <a:blip r:embed="rId3"/>
          <a:stretch>
            <a:fillRect/>
          </a:stretch>
        </p:blipFill>
        <p:spPr>
          <a:xfrm>
            <a:off x="1484671" y="4119388"/>
            <a:ext cx="6331974" cy="2129538"/>
          </a:xfrm>
          <a:prstGeom prst="rect">
            <a:avLst/>
          </a:prstGeom>
        </p:spPr>
      </p:pic>
      <p:sp>
        <p:nvSpPr>
          <p:cNvPr id="5" name="TextBox 4">
            <a:extLst>
              <a:ext uri="{FF2B5EF4-FFF2-40B4-BE49-F238E27FC236}">
                <a16:creationId xmlns:a16="http://schemas.microsoft.com/office/drawing/2014/main" id="{34645A08-5468-28AF-C169-2AD8BF89BBE6}"/>
              </a:ext>
            </a:extLst>
          </p:cNvPr>
          <p:cNvSpPr txBox="1"/>
          <p:nvPr/>
        </p:nvSpPr>
        <p:spPr>
          <a:xfrm>
            <a:off x="3308555" y="6488668"/>
            <a:ext cx="2866104" cy="369332"/>
          </a:xfrm>
          <a:prstGeom prst="rect">
            <a:avLst/>
          </a:prstGeom>
          <a:noFill/>
        </p:spPr>
        <p:txBody>
          <a:bodyPr wrap="square" rtlCol="0">
            <a:spAutoFit/>
          </a:bodyPr>
          <a:lstStyle/>
          <a:p>
            <a:r>
              <a:rPr lang="en-IN" dirty="0"/>
              <a:t> Fig. 8. LSTM Architecture</a:t>
            </a:r>
          </a:p>
        </p:txBody>
      </p:sp>
    </p:spTree>
    <p:extLst>
      <p:ext uri="{BB962C8B-B14F-4D97-AF65-F5344CB8AC3E}">
        <p14:creationId xmlns:p14="http://schemas.microsoft.com/office/powerpoint/2010/main" val="2212743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4"/>
          <p:cNvSpPr txBox="1">
            <a:spLocks noGrp="1"/>
          </p:cNvSpPr>
          <p:nvPr>
            <p:ph type="title"/>
          </p:nvPr>
        </p:nvSpPr>
        <p:spPr>
          <a:xfrm>
            <a:off x="202676" y="120029"/>
            <a:ext cx="8738648" cy="74723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4. RESULTS</a:t>
            </a:r>
            <a:endParaRPr dirty="0">
              <a:latin typeface="Calisto MT" panose="02040603050505030304" pitchFamily="18" charset="0"/>
            </a:endParaRPr>
          </a:p>
        </p:txBody>
      </p:sp>
      <p:sp>
        <p:nvSpPr>
          <p:cNvPr id="116" name="Google Shape;116;p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19</a:t>
            </a:fld>
            <a:endParaRPr sz="1400" b="1">
              <a:solidFill>
                <a:schemeClr val="dk1"/>
              </a:solidFill>
              <a:latin typeface="Calisto MT" panose="02040603050505030304" pitchFamily="18" charset="0"/>
              <a:ea typeface="Lustria"/>
              <a:cs typeface="Lustria"/>
              <a:sym typeface="Lustria"/>
            </a:endParaRPr>
          </a:p>
        </p:txBody>
      </p:sp>
      <p:pic>
        <p:nvPicPr>
          <p:cNvPr id="5" name="Picture 4">
            <a:extLst>
              <a:ext uri="{FF2B5EF4-FFF2-40B4-BE49-F238E27FC236}">
                <a16:creationId xmlns:a16="http://schemas.microsoft.com/office/drawing/2014/main" id="{A13F8B17-ECAC-3F44-8FDE-596C10353DCC}"/>
              </a:ext>
            </a:extLst>
          </p:cNvPr>
          <p:cNvPicPr>
            <a:picLocks noChangeAspect="1"/>
          </p:cNvPicPr>
          <p:nvPr/>
        </p:nvPicPr>
        <p:blipFill>
          <a:blip r:embed="rId3"/>
          <a:stretch>
            <a:fillRect/>
          </a:stretch>
        </p:blipFill>
        <p:spPr>
          <a:xfrm>
            <a:off x="0" y="1130541"/>
            <a:ext cx="9144000" cy="4395188"/>
          </a:xfrm>
          <a:prstGeom prst="rect">
            <a:avLst/>
          </a:prstGeom>
        </p:spPr>
      </p:pic>
      <p:sp>
        <p:nvSpPr>
          <p:cNvPr id="2" name="TextBox 1">
            <a:extLst>
              <a:ext uri="{FF2B5EF4-FFF2-40B4-BE49-F238E27FC236}">
                <a16:creationId xmlns:a16="http://schemas.microsoft.com/office/drawing/2014/main" id="{22BB0463-C778-5C24-AD3C-E47EF812E699}"/>
              </a:ext>
            </a:extLst>
          </p:cNvPr>
          <p:cNvSpPr txBox="1"/>
          <p:nvPr/>
        </p:nvSpPr>
        <p:spPr>
          <a:xfrm>
            <a:off x="3657599" y="5987019"/>
            <a:ext cx="2723536" cy="369332"/>
          </a:xfrm>
          <a:prstGeom prst="rect">
            <a:avLst/>
          </a:prstGeom>
          <a:noFill/>
        </p:spPr>
        <p:txBody>
          <a:bodyPr wrap="square" rtlCol="0">
            <a:spAutoFit/>
          </a:bodyPr>
          <a:lstStyle/>
          <a:p>
            <a:r>
              <a:rPr lang="en-US" sz="1800" b="1" dirty="0">
                <a:solidFill>
                  <a:schemeClr val="accent2">
                    <a:lumMod val="75000"/>
                  </a:schemeClr>
                </a:solidFill>
                <a:latin typeface="Calisto MT" panose="02040603050505030304" pitchFamily="18" charset="0"/>
                <a:ea typeface="Lustria"/>
                <a:cs typeface="Times New Roman" panose="02020603050405020304" pitchFamily="18" charset="0"/>
                <a:sym typeface="Lustria"/>
              </a:rPr>
              <a:t>Fig. 9 :  Results</a:t>
            </a:r>
            <a:endParaRPr lang="en-US" sz="1800" b="1" dirty="0">
              <a:solidFill>
                <a:schemeClr val="accent2">
                  <a:lumMod val="75000"/>
                </a:schemeClr>
              </a:solidFill>
              <a:latin typeface="Calisto MT" panose="02040603050505030304" pitchFamily="18" charset="0"/>
              <a:cs typeface="Times New Roman" panose="02020603050405020304" pitchFamily="18" charset="0"/>
            </a:endParaRPr>
          </a:p>
        </p:txBody>
      </p:sp>
    </p:spTree>
    <p:extLst>
      <p:ext uri="{BB962C8B-B14F-4D97-AF65-F5344CB8AC3E}">
        <p14:creationId xmlns:p14="http://schemas.microsoft.com/office/powerpoint/2010/main" val="1517808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A7562925-CFAA-3929-FB4B-E0BF91E0A0EF}"/>
            </a:ext>
          </a:extLst>
        </p:cNvPr>
        <p:cNvGrpSpPr/>
        <p:nvPr/>
      </p:nvGrpSpPr>
      <p:grpSpPr>
        <a:xfrm>
          <a:off x="0" y="0"/>
          <a:ext cx="0" cy="0"/>
          <a:chOff x="0" y="0"/>
          <a:chExt cx="0" cy="0"/>
        </a:xfrm>
      </p:grpSpPr>
      <p:sp>
        <p:nvSpPr>
          <p:cNvPr id="114" name="Google Shape;114;p4">
            <a:extLst>
              <a:ext uri="{FF2B5EF4-FFF2-40B4-BE49-F238E27FC236}">
                <a16:creationId xmlns:a16="http://schemas.microsoft.com/office/drawing/2014/main" id="{D3DD14C4-92FD-C52A-A6C4-108F8ABA1364}"/>
              </a:ext>
            </a:extLst>
          </p:cNvPr>
          <p:cNvSpPr txBox="1">
            <a:spLocks noGrp="1"/>
          </p:cNvSpPr>
          <p:nvPr>
            <p:ph type="title"/>
          </p:nvPr>
        </p:nvSpPr>
        <p:spPr>
          <a:xfrm>
            <a:off x="202676" y="120029"/>
            <a:ext cx="8738648" cy="74723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4. RESULTS</a:t>
            </a:r>
            <a:endParaRPr dirty="0">
              <a:latin typeface="Calisto MT" panose="02040603050505030304" pitchFamily="18" charset="0"/>
            </a:endParaRPr>
          </a:p>
        </p:txBody>
      </p:sp>
      <p:sp>
        <p:nvSpPr>
          <p:cNvPr id="116" name="Google Shape;116;p4">
            <a:extLst>
              <a:ext uri="{FF2B5EF4-FFF2-40B4-BE49-F238E27FC236}">
                <a16:creationId xmlns:a16="http://schemas.microsoft.com/office/drawing/2014/main" id="{7CC0E442-C86E-1D58-2FA2-1C11A32644F9}"/>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20</a:t>
            </a:fld>
            <a:endParaRPr sz="1400" b="1">
              <a:solidFill>
                <a:schemeClr val="dk1"/>
              </a:solidFill>
              <a:latin typeface="Calisto MT" panose="02040603050505030304" pitchFamily="18" charset="0"/>
              <a:ea typeface="Lustria"/>
              <a:cs typeface="Lustria"/>
              <a:sym typeface="Lustria"/>
            </a:endParaRPr>
          </a:p>
        </p:txBody>
      </p:sp>
      <p:pic>
        <p:nvPicPr>
          <p:cNvPr id="3" name="Picture 2">
            <a:extLst>
              <a:ext uri="{FF2B5EF4-FFF2-40B4-BE49-F238E27FC236}">
                <a16:creationId xmlns:a16="http://schemas.microsoft.com/office/drawing/2014/main" id="{ED3D55A3-1DE4-6572-9DF7-EF7FBBFBB162}"/>
              </a:ext>
            </a:extLst>
          </p:cNvPr>
          <p:cNvPicPr>
            <a:picLocks noChangeAspect="1"/>
          </p:cNvPicPr>
          <p:nvPr/>
        </p:nvPicPr>
        <p:blipFill>
          <a:blip r:embed="rId3"/>
          <a:stretch>
            <a:fillRect/>
          </a:stretch>
        </p:blipFill>
        <p:spPr>
          <a:xfrm>
            <a:off x="0" y="1258529"/>
            <a:ext cx="9144000" cy="4630994"/>
          </a:xfrm>
          <a:prstGeom prst="rect">
            <a:avLst/>
          </a:prstGeom>
        </p:spPr>
      </p:pic>
      <p:sp>
        <p:nvSpPr>
          <p:cNvPr id="2" name="TextBox 1">
            <a:extLst>
              <a:ext uri="{FF2B5EF4-FFF2-40B4-BE49-F238E27FC236}">
                <a16:creationId xmlns:a16="http://schemas.microsoft.com/office/drawing/2014/main" id="{5411BE9F-6CD4-AB12-C8A2-EEA2AA03C23C}"/>
              </a:ext>
            </a:extLst>
          </p:cNvPr>
          <p:cNvSpPr txBox="1"/>
          <p:nvPr/>
        </p:nvSpPr>
        <p:spPr>
          <a:xfrm>
            <a:off x="3573411" y="6184490"/>
            <a:ext cx="3913239" cy="369332"/>
          </a:xfrm>
          <a:prstGeom prst="rect">
            <a:avLst/>
          </a:prstGeom>
          <a:noFill/>
        </p:spPr>
        <p:txBody>
          <a:bodyPr wrap="square" rtlCol="0">
            <a:spAutoFit/>
          </a:bodyPr>
          <a:lstStyle/>
          <a:p>
            <a:r>
              <a:rPr lang="en-US" sz="1800" b="1" dirty="0">
                <a:solidFill>
                  <a:schemeClr val="accent2">
                    <a:lumMod val="75000"/>
                  </a:schemeClr>
                </a:solidFill>
                <a:latin typeface="Calisto MT" panose="02040603050505030304" pitchFamily="18" charset="0"/>
                <a:ea typeface="Lustria"/>
                <a:cs typeface="Times New Roman" panose="02020603050405020304" pitchFamily="18" charset="0"/>
                <a:sym typeface="Lustria"/>
              </a:rPr>
              <a:t>Fig. 10 :  Results</a:t>
            </a:r>
            <a:endParaRPr lang="en-US" sz="1800" b="1" dirty="0">
              <a:solidFill>
                <a:schemeClr val="accent2">
                  <a:lumMod val="75000"/>
                </a:schemeClr>
              </a:solidFill>
              <a:latin typeface="Calisto MT" panose="02040603050505030304" pitchFamily="18" charset="0"/>
              <a:cs typeface="Times New Roman" panose="02020603050405020304" pitchFamily="18" charset="0"/>
            </a:endParaRPr>
          </a:p>
        </p:txBody>
      </p:sp>
    </p:spTree>
    <p:extLst>
      <p:ext uri="{BB962C8B-B14F-4D97-AF65-F5344CB8AC3E}">
        <p14:creationId xmlns:p14="http://schemas.microsoft.com/office/powerpoint/2010/main" val="1593086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CC2E0059-409A-F87B-ED08-B3FF9D025348}"/>
            </a:ext>
          </a:extLst>
        </p:cNvPr>
        <p:cNvGrpSpPr/>
        <p:nvPr/>
      </p:nvGrpSpPr>
      <p:grpSpPr>
        <a:xfrm>
          <a:off x="0" y="0"/>
          <a:ext cx="0" cy="0"/>
          <a:chOff x="0" y="0"/>
          <a:chExt cx="0" cy="0"/>
        </a:xfrm>
      </p:grpSpPr>
      <p:sp>
        <p:nvSpPr>
          <p:cNvPr id="114" name="Google Shape;114;p4">
            <a:extLst>
              <a:ext uri="{FF2B5EF4-FFF2-40B4-BE49-F238E27FC236}">
                <a16:creationId xmlns:a16="http://schemas.microsoft.com/office/drawing/2014/main" id="{7C9456BC-B1B2-39AD-A513-F6ED0330DD12}"/>
              </a:ext>
            </a:extLst>
          </p:cNvPr>
          <p:cNvSpPr txBox="1">
            <a:spLocks noGrp="1"/>
          </p:cNvSpPr>
          <p:nvPr>
            <p:ph type="title"/>
          </p:nvPr>
        </p:nvSpPr>
        <p:spPr>
          <a:xfrm>
            <a:off x="202676" y="120029"/>
            <a:ext cx="8738648" cy="74723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4. RESULTS</a:t>
            </a:r>
            <a:endParaRPr dirty="0">
              <a:latin typeface="Calisto MT" panose="02040603050505030304" pitchFamily="18" charset="0"/>
            </a:endParaRPr>
          </a:p>
        </p:txBody>
      </p:sp>
      <p:sp>
        <p:nvSpPr>
          <p:cNvPr id="116" name="Google Shape;116;p4">
            <a:extLst>
              <a:ext uri="{FF2B5EF4-FFF2-40B4-BE49-F238E27FC236}">
                <a16:creationId xmlns:a16="http://schemas.microsoft.com/office/drawing/2014/main" id="{C24525E2-37F1-BA5D-8C15-29C192B72282}"/>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21</a:t>
            </a:fld>
            <a:endParaRPr sz="1400" b="1">
              <a:solidFill>
                <a:schemeClr val="dk1"/>
              </a:solidFill>
              <a:latin typeface="Calisto MT" panose="02040603050505030304" pitchFamily="18" charset="0"/>
              <a:ea typeface="Lustria"/>
              <a:cs typeface="Lustria"/>
              <a:sym typeface="Lustria"/>
            </a:endParaRPr>
          </a:p>
        </p:txBody>
      </p:sp>
      <p:pic>
        <p:nvPicPr>
          <p:cNvPr id="4" name="Picture 3">
            <a:extLst>
              <a:ext uri="{FF2B5EF4-FFF2-40B4-BE49-F238E27FC236}">
                <a16:creationId xmlns:a16="http://schemas.microsoft.com/office/drawing/2014/main" id="{EB67F802-D3D2-C4A9-69E9-5B19FA105A9A}"/>
              </a:ext>
            </a:extLst>
          </p:cNvPr>
          <p:cNvPicPr>
            <a:picLocks noChangeAspect="1"/>
          </p:cNvPicPr>
          <p:nvPr/>
        </p:nvPicPr>
        <p:blipFill>
          <a:blip r:embed="rId3"/>
          <a:stretch>
            <a:fillRect/>
          </a:stretch>
        </p:blipFill>
        <p:spPr>
          <a:xfrm>
            <a:off x="0" y="1219200"/>
            <a:ext cx="9144000" cy="4444181"/>
          </a:xfrm>
          <a:prstGeom prst="rect">
            <a:avLst/>
          </a:prstGeom>
        </p:spPr>
      </p:pic>
      <p:sp>
        <p:nvSpPr>
          <p:cNvPr id="2" name="TextBox 1">
            <a:extLst>
              <a:ext uri="{FF2B5EF4-FFF2-40B4-BE49-F238E27FC236}">
                <a16:creationId xmlns:a16="http://schemas.microsoft.com/office/drawing/2014/main" id="{B76F1EFC-4B15-9602-F48F-85C3006FF209}"/>
              </a:ext>
            </a:extLst>
          </p:cNvPr>
          <p:cNvSpPr txBox="1"/>
          <p:nvPr/>
        </p:nvSpPr>
        <p:spPr>
          <a:xfrm>
            <a:off x="3323304" y="6015315"/>
            <a:ext cx="3755922" cy="923330"/>
          </a:xfrm>
          <a:prstGeom prst="rect">
            <a:avLst/>
          </a:prstGeom>
          <a:noFill/>
        </p:spPr>
        <p:txBody>
          <a:bodyPr wrap="square" rtlCol="0">
            <a:spAutoFit/>
          </a:bodyPr>
          <a:lstStyle/>
          <a:p>
            <a:r>
              <a:rPr lang="en-US" sz="1800" b="1" dirty="0">
                <a:solidFill>
                  <a:schemeClr val="accent2">
                    <a:lumMod val="75000"/>
                  </a:schemeClr>
                </a:solidFill>
                <a:latin typeface="Calisto MT" panose="02040603050505030304" pitchFamily="18" charset="0"/>
                <a:ea typeface="Lustria"/>
                <a:cs typeface="Times New Roman" panose="02020603050405020304" pitchFamily="18" charset="0"/>
                <a:sym typeface="Lustria"/>
              </a:rPr>
              <a:t>Fig. 11 :  Results</a:t>
            </a:r>
            <a:endParaRPr lang="en-US" sz="1800" b="1" dirty="0">
              <a:solidFill>
                <a:schemeClr val="accent2">
                  <a:lumMod val="75000"/>
                </a:schemeClr>
              </a:solidFill>
              <a:latin typeface="Calisto MT" panose="02040603050505030304" pitchFamily="18" charset="0"/>
              <a:cs typeface="Times New Roman" panose="02020603050405020304" pitchFamily="18" charset="0"/>
            </a:endParaRPr>
          </a:p>
          <a:p>
            <a:endParaRPr lang="en-IN" dirty="0"/>
          </a:p>
          <a:p>
            <a:endParaRPr lang="en-IN" dirty="0"/>
          </a:p>
        </p:txBody>
      </p:sp>
    </p:spTree>
    <p:extLst>
      <p:ext uri="{BB962C8B-B14F-4D97-AF65-F5344CB8AC3E}">
        <p14:creationId xmlns:p14="http://schemas.microsoft.com/office/powerpoint/2010/main" val="1568839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59349-7F91-6F96-7D7C-151EA8CC12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F0C53-3201-D554-BC6C-48E9B9822F19}"/>
              </a:ext>
            </a:extLst>
          </p:cNvPr>
          <p:cNvSpPr>
            <a:spLocks noGrp="1"/>
          </p:cNvSpPr>
          <p:nvPr>
            <p:ph type="title"/>
          </p:nvPr>
        </p:nvSpPr>
        <p:spPr>
          <a:xfrm>
            <a:off x="202676" y="-49654"/>
            <a:ext cx="8738648" cy="747237"/>
          </a:xfrm>
        </p:spPr>
        <p:txBody>
          <a:bodyPr>
            <a:noAutofit/>
          </a:bodyPr>
          <a:lstStyle/>
          <a:p>
            <a:r>
              <a:rPr lang="en-US" sz="3000" b="1" dirty="0">
                <a:solidFill>
                  <a:schemeClr val="accent2">
                    <a:lumMod val="50000"/>
                  </a:schemeClr>
                </a:solidFill>
                <a:latin typeface="Calisto MT" panose="02040603050505030304" pitchFamily="18" charset="0"/>
              </a:rPr>
              <a:t> </a:t>
            </a:r>
            <a:r>
              <a:rPr lang="en-US" sz="3000" b="1" dirty="0">
                <a:solidFill>
                  <a:srgbClr val="833C0B"/>
                </a:solidFill>
                <a:latin typeface="Calisto MT" panose="02040603050505030304" pitchFamily="18" charset="0"/>
                <a:ea typeface="Lustria"/>
                <a:cs typeface="Lustria"/>
                <a:sym typeface="Lustria"/>
              </a:rPr>
              <a:t>4. </a:t>
            </a:r>
            <a:r>
              <a:rPr lang="en-US" sz="3000" b="1" dirty="0">
                <a:solidFill>
                  <a:schemeClr val="accent2">
                    <a:lumMod val="50000"/>
                  </a:schemeClr>
                </a:solidFill>
                <a:latin typeface="Calisto MT" panose="02040603050505030304" pitchFamily="18" charset="0"/>
              </a:rPr>
              <a:t>RESULTS</a:t>
            </a:r>
          </a:p>
        </p:txBody>
      </p:sp>
      <p:sp>
        <p:nvSpPr>
          <p:cNvPr id="3" name="Content Placeholder 2">
            <a:extLst>
              <a:ext uri="{FF2B5EF4-FFF2-40B4-BE49-F238E27FC236}">
                <a16:creationId xmlns:a16="http://schemas.microsoft.com/office/drawing/2014/main" id="{7DBB4D83-6CBA-12B1-445D-864CC52E789E}"/>
              </a:ext>
            </a:extLst>
          </p:cNvPr>
          <p:cNvSpPr>
            <a:spLocks noGrp="1"/>
          </p:cNvSpPr>
          <p:nvPr>
            <p:ph idx="1"/>
          </p:nvPr>
        </p:nvSpPr>
        <p:spPr>
          <a:xfrm>
            <a:off x="329937" y="875071"/>
            <a:ext cx="8314441" cy="5982929"/>
          </a:xfrm>
        </p:spPr>
        <p:txBody>
          <a:bodyPr numCol="1">
            <a:normAutofit/>
          </a:bodyPr>
          <a:lstStyle/>
          <a:p>
            <a:pPr marL="0" indent="0">
              <a:lnSpc>
                <a:spcPct val="100000"/>
              </a:lnSpc>
              <a:buNone/>
            </a:pPr>
            <a:endParaRPr lang="en-US" sz="2400" dirty="0">
              <a:latin typeface="Calisto MT" panose="02040603050505030304" pitchFamily="18" charset="0"/>
              <a:cs typeface="Times New Roman" panose="02020603050405020304" pitchFamily="18" charset="0"/>
            </a:endParaRPr>
          </a:p>
          <a:p>
            <a:pPr marL="0" indent="0">
              <a:lnSpc>
                <a:spcPct val="100000"/>
              </a:lnSpc>
              <a:buNone/>
            </a:pPr>
            <a:endParaRPr lang="en-US" sz="2400" b="1" i="1" dirty="0">
              <a:solidFill>
                <a:srgbClr val="C00000"/>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9E8D9152-F0D8-31A4-63AE-1C8D6CA8DB5B}"/>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22</a:t>
            </a:fld>
            <a:endParaRPr lang="en-US" sz="1400" b="1" dirty="0">
              <a:solidFill>
                <a:schemeClr val="tx1"/>
              </a:solidFill>
              <a:latin typeface="Calisto MT" panose="02040603050505030304" pitchFamily="18" charset="0"/>
            </a:endParaRPr>
          </a:p>
        </p:txBody>
      </p:sp>
      <p:sp>
        <p:nvSpPr>
          <p:cNvPr id="9" name="TextBox 8">
            <a:extLst>
              <a:ext uri="{FF2B5EF4-FFF2-40B4-BE49-F238E27FC236}">
                <a16:creationId xmlns:a16="http://schemas.microsoft.com/office/drawing/2014/main" id="{0A3F876A-E882-F49D-A89C-30ECED573139}"/>
              </a:ext>
            </a:extLst>
          </p:cNvPr>
          <p:cNvSpPr txBox="1"/>
          <p:nvPr/>
        </p:nvSpPr>
        <p:spPr>
          <a:xfrm>
            <a:off x="3167207" y="6270042"/>
            <a:ext cx="3608438" cy="646331"/>
          </a:xfrm>
          <a:prstGeom prst="rect">
            <a:avLst/>
          </a:prstGeom>
          <a:noFill/>
        </p:spPr>
        <p:txBody>
          <a:bodyPr wrap="square" rtlCol="0">
            <a:spAutoFit/>
          </a:bodyPr>
          <a:lstStyle/>
          <a:p>
            <a:r>
              <a:rPr lang="en-US" sz="1800" b="1" dirty="0">
                <a:solidFill>
                  <a:schemeClr val="accent2">
                    <a:lumMod val="75000"/>
                  </a:schemeClr>
                </a:solidFill>
                <a:latin typeface="Calisto MT" panose="02040603050505030304" pitchFamily="18" charset="0"/>
                <a:ea typeface="Lustria"/>
                <a:cs typeface="Times New Roman" panose="02020603050405020304" pitchFamily="18" charset="0"/>
                <a:sym typeface="Lustria"/>
              </a:rPr>
              <a:t>Fig. 1</a:t>
            </a:r>
            <a:r>
              <a:rPr lang="en-US" b="1" dirty="0">
                <a:solidFill>
                  <a:schemeClr val="accent2">
                    <a:lumMod val="75000"/>
                  </a:schemeClr>
                </a:solidFill>
                <a:latin typeface="Calisto MT" panose="02040603050505030304" pitchFamily="18" charset="0"/>
                <a:ea typeface="Lustria"/>
                <a:cs typeface="Times New Roman" panose="02020603050405020304" pitchFamily="18" charset="0"/>
                <a:sym typeface="Lustria"/>
              </a:rPr>
              <a:t>2</a:t>
            </a:r>
            <a:r>
              <a:rPr lang="en-US" sz="1800" b="1" dirty="0">
                <a:solidFill>
                  <a:schemeClr val="accent2">
                    <a:lumMod val="75000"/>
                  </a:schemeClr>
                </a:solidFill>
                <a:latin typeface="Calisto MT" panose="02040603050505030304" pitchFamily="18" charset="0"/>
                <a:ea typeface="Lustria"/>
                <a:cs typeface="Times New Roman" panose="02020603050405020304" pitchFamily="18" charset="0"/>
                <a:sym typeface="Lustria"/>
              </a:rPr>
              <a:t> :  Performance Graph</a:t>
            </a:r>
            <a:endParaRPr lang="en-US" sz="1800" b="1" dirty="0">
              <a:solidFill>
                <a:schemeClr val="accent2">
                  <a:lumMod val="75000"/>
                </a:schemeClr>
              </a:solidFill>
              <a:latin typeface="Calisto MT" panose="02040603050505030304" pitchFamily="18" charset="0"/>
              <a:cs typeface="Times New Roman" panose="02020603050405020304" pitchFamily="18" charset="0"/>
            </a:endParaRPr>
          </a:p>
          <a:p>
            <a:endParaRPr lang="en-IN" dirty="0"/>
          </a:p>
        </p:txBody>
      </p:sp>
      <p:pic>
        <p:nvPicPr>
          <p:cNvPr id="8" name="Picture 7">
            <a:extLst>
              <a:ext uri="{FF2B5EF4-FFF2-40B4-BE49-F238E27FC236}">
                <a16:creationId xmlns:a16="http://schemas.microsoft.com/office/drawing/2014/main" id="{11B5D4EC-050E-9FEB-9A23-8629BCFCDC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113" y="731514"/>
            <a:ext cx="7223774" cy="5394971"/>
          </a:xfrm>
          <a:prstGeom prst="rect">
            <a:avLst/>
          </a:prstGeom>
        </p:spPr>
      </p:pic>
    </p:spTree>
    <p:extLst>
      <p:ext uri="{BB962C8B-B14F-4D97-AF65-F5344CB8AC3E}">
        <p14:creationId xmlns:p14="http://schemas.microsoft.com/office/powerpoint/2010/main" val="4049025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xfrm>
            <a:off x="116586" y="459394"/>
            <a:ext cx="8738648" cy="74723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ts val="3000"/>
              <a:buFont typeface="Lustria"/>
              <a:buNone/>
            </a:pPr>
            <a:r>
              <a:rPr lang="en-US" sz="3000" b="1" dirty="0">
                <a:solidFill>
                  <a:srgbClr val="833C0B"/>
                </a:solidFill>
                <a:latin typeface="Calisto MT" panose="02040603050505030304" pitchFamily="18" charset="0"/>
                <a:ea typeface="Lustria"/>
                <a:cs typeface="Lustria"/>
                <a:sym typeface="Lustria"/>
              </a:rPr>
              <a:t>5.  CONCLUSION</a:t>
            </a:r>
            <a:endParaRPr lang="en-US" dirty="0">
              <a:latin typeface="Calisto MT" panose="02040603050505030304" pitchFamily="18" charset="0"/>
            </a:endParaRPr>
          </a:p>
        </p:txBody>
      </p:sp>
      <p:sp>
        <p:nvSpPr>
          <p:cNvPr id="138" name="Google Shape;138;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23</a:t>
            </a:fld>
            <a:endParaRPr sz="1400" b="1">
              <a:solidFill>
                <a:schemeClr val="dk1"/>
              </a:solidFill>
              <a:latin typeface="Calisto MT" panose="02040603050505030304" pitchFamily="18" charset="0"/>
              <a:ea typeface="Lustria"/>
              <a:cs typeface="Lustria"/>
              <a:sym typeface="Lustria"/>
            </a:endParaRPr>
          </a:p>
        </p:txBody>
      </p:sp>
      <p:sp>
        <p:nvSpPr>
          <p:cNvPr id="5" name="TextBox 4">
            <a:extLst>
              <a:ext uri="{FF2B5EF4-FFF2-40B4-BE49-F238E27FC236}">
                <a16:creationId xmlns:a16="http://schemas.microsoft.com/office/drawing/2014/main" id="{B9F3A47C-30F1-5CB0-E70D-B53733A6CE2E}"/>
              </a:ext>
            </a:extLst>
          </p:cNvPr>
          <p:cNvSpPr txBox="1"/>
          <p:nvPr/>
        </p:nvSpPr>
        <p:spPr>
          <a:xfrm>
            <a:off x="384399" y="1731643"/>
            <a:ext cx="7912035" cy="2196445"/>
          </a:xfrm>
          <a:prstGeom prst="rect">
            <a:avLst/>
          </a:prstGeom>
          <a:noFill/>
        </p:spPr>
        <p:txBody>
          <a:bodyPr wrap="square" rtlCol="0">
            <a:spAutoFit/>
          </a:bodyPr>
          <a:lstStyle/>
          <a:p>
            <a:endParaRPr lang="en-IN" dirty="0"/>
          </a:p>
        </p:txBody>
      </p:sp>
      <p:sp>
        <p:nvSpPr>
          <p:cNvPr id="6" name="Rectangle 4">
            <a:extLst>
              <a:ext uri="{FF2B5EF4-FFF2-40B4-BE49-F238E27FC236}">
                <a16:creationId xmlns:a16="http://schemas.microsoft.com/office/drawing/2014/main" id="{48B0C246-D467-11FD-7F4F-C257721E950E}"/>
              </a:ext>
            </a:extLst>
          </p:cNvPr>
          <p:cNvSpPr>
            <a:spLocks noChangeArrowheads="1"/>
          </p:cNvSpPr>
          <p:nvPr/>
        </p:nvSpPr>
        <p:spPr bwMode="auto">
          <a:xfrm>
            <a:off x="314030" y="1643575"/>
            <a:ext cx="8201320" cy="3570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15000"/>
              </a:lnSpc>
              <a:spcAft>
                <a:spcPts val="100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This study offers analysis of feature extraction techniques, diverse datasets, preprocessing methodologies, and electrocardiogram (ECG) images. It also carries out a thorough comparative analysis to evaluate the diagnostic efficacy of both state-of-the-art deep learning models, such as the Long Short-Term Memory (LSTM) network, and traditional algorithms. This comparative analysis lays the groundwork for a deeper examination of cardiovascular health analytics with the goal of pushing the envelope of present diagnostic capabilities and opening new avenues for future developments in medical diagnostics. As we move forward, the validation procedure is essential to guaranteeing the dependability and strength of the suggested approaches. The work tackles the requirement for consistent performance across diverse situations by means of validation on discrete datasets that reflect different illness presentations.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35"/>
          <p:cNvSpPr txBox="1">
            <a:spLocks noGrp="1"/>
          </p:cNvSpPr>
          <p:nvPr>
            <p:ph type="title"/>
          </p:nvPr>
        </p:nvSpPr>
        <p:spPr>
          <a:xfrm>
            <a:off x="329937" y="5648"/>
            <a:ext cx="8006303" cy="54927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833C0B"/>
              </a:buClr>
              <a:buSzPct val="100000"/>
              <a:buFont typeface="Lustria"/>
              <a:buNone/>
            </a:pPr>
            <a:r>
              <a:rPr lang="en-US" sz="4000" b="1" dirty="0">
                <a:solidFill>
                  <a:srgbClr val="833C0B"/>
                </a:solidFill>
                <a:latin typeface="Calisto MT" panose="02040603050505030304" pitchFamily="18" charset="0"/>
                <a:ea typeface="Lustria"/>
                <a:cs typeface="Lustria"/>
                <a:sym typeface="Lustria"/>
              </a:rPr>
              <a:t>6. References</a:t>
            </a:r>
            <a:endParaRPr dirty="0">
              <a:latin typeface="Calisto MT" panose="02040603050505030304" pitchFamily="18" charset="0"/>
            </a:endParaRPr>
          </a:p>
        </p:txBody>
      </p:sp>
      <p:sp>
        <p:nvSpPr>
          <p:cNvPr id="695" name="Google Shape;695;p35"/>
          <p:cNvSpPr txBox="1">
            <a:spLocks noGrp="1"/>
          </p:cNvSpPr>
          <p:nvPr>
            <p:ph type="body" idx="1"/>
          </p:nvPr>
        </p:nvSpPr>
        <p:spPr>
          <a:xfrm>
            <a:off x="329938" y="554921"/>
            <a:ext cx="8006303" cy="5748157"/>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ct val="100000"/>
              <a:buFont typeface="+mj-lt"/>
              <a:buAutoNum type="arabicPeriod"/>
            </a:pPr>
            <a:endParaRPr lang="en-IN" sz="1400" b="0" i="0" dirty="0">
              <a:solidFill>
                <a:srgbClr val="222222"/>
              </a:solidFill>
              <a:effectLst/>
              <a:latin typeface="Times New Roman" panose="02020603050405020304" pitchFamily="18" charset="0"/>
              <a:cs typeface="Times New Roman" panose="02020603050405020304" pitchFamily="18" charset="0"/>
            </a:endParaRPr>
          </a:p>
          <a:p>
            <a:pPr marL="342900" indent="-342900" algn="just">
              <a:lnSpc>
                <a:spcPct val="100000"/>
              </a:lnSpc>
              <a:spcBef>
                <a:spcPts val="0"/>
              </a:spcBef>
              <a:buClr>
                <a:schemeClr val="dk1"/>
              </a:buClr>
              <a:buSzPct val="100000"/>
              <a:buFont typeface="+mj-lt"/>
              <a:buAutoNum type="arabicPeriod"/>
            </a:pPr>
            <a:r>
              <a:rPr lang="en-US" sz="1600" dirty="0"/>
              <a:t>Abubaker, M. B., </a:t>
            </a:r>
            <a:r>
              <a:rPr lang="en-US" sz="1600" dirty="0" err="1"/>
              <a:t>Babayi˘git</a:t>
            </a:r>
            <a:r>
              <a:rPr lang="en-US" sz="1600" dirty="0"/>
              <a:t>, B. (2022). Detection of cardiovascular diseases in ECG images using machine learning and deep learning methods. IEEE Transactions on Artificial Intelligence, 4(2), 373-382.</a:t>
            </a:r>
          </a:p>
          <a:p>
            <a:pPr marL="342900" indent="-342900" algn="just">
              <a:lnSpc>
                <a:spcPct val="100000"/>
              </a:lnSpc>
              <a:spcBef>
                <a:spcPts val="0"/>
              </a:spcBef>
              <a:buClr>
                <a:schemeClr val="dk1"/>
              </a:buClr>
              <a:buSzPct val="100000"/>
              <a:buFont typeface="+mj-lt"/>
              <a:buAutoNum type="arabicPeriod"/>
            </a:pPr>
            <a:r>
              <a:rPr lang="en-IN" sz="1600" dirty="0"/>
              <a:t> Ullah, T., Ullah, S. I., Ullah, K., Ishaq, M., Khan, A., </a:t>
            </a:r>
            <a:r>
              <a:rPr lang="en-IN" sz="1600" dirty="0" err="1"/>
              <a:t>Ghadi</a:t>
            </a:r>
            <a:r>
              <a:rPr lang="en-IN" sz="1600" dirty="0"/>
              <a:t>, Y. Y., </a:t>
            </a:r>
            <a:r>
              <a:rPr lang="en-IN" sz="1600" dirty="0" err="1"/>
              <a:t>Algarni</a:t>
            </a:r>
            <a:r>
              <a:rPr lang="en-IN" sz="1600" dirty="0"/>
              <a:t>, A. (2024). Machine Learning-Based Cardiovascular Disease Detection Using Optimal Feature Selection. IEEE Access.</a:t>
            </a:r>
          </a:p>
          <a:p>
            <a:pPr marL="342900" indent="-342900" algn="just">
              <a:lnSpc>
                <a:spcPct val="100000"/>
              </a:lnSpc>
              <a:spcBef>
                <a:spcPts val="0"/>
              </a:spcBef>
              <a:buClr>
                <a:schemeClr val="dk1"/>
              </a:buClr>
              <a:buSzPct val="100000"/>
              <a:buFont typeface="+mj-lt"/>
              <a:buAutoNum type="arabicPeriod"/>
            </a:pPr>
            <a:r>
              <a:rPr lang="en-IN" sz="1600" dirty="0"/>
              <a:t>Henein, M. Y., </a:t>
            </a:r>
            <a:r>
              <a:rPr lang="en-IN" sz="1600" dirty="0" err="1"/>
              <a:t>Vancheri</a:t>
            </a:r>
            <a:r>
              <a:rPr lang="en-IN" sz="1600" dirty="0"/>
              <a:t>, S., Longo, G., </a:t>
            </a:r>
            <a:r>
              <a:rPr lang="en-IN" sz="1600" dirty="0" err="1"/>
              <a:t>Vancheri</a:t>
            </a:r>
            <a:r>
              <a:rPr lang="en-IN" sz="1600" dirty="0"/>
              <a:t>, F. (2022). The role of inflammation in cardiovascular disease. International journal of molecular sciences, 23(21), 12906.</a:t>
            </a:r>
          </a:p>
          <a:p>
            <a:pPr marL="342900" indent="-342900" algn="just">
              <a:lnSpc>
                <a:spcPct val="100000"/>
              </a:lnSpc>
              <a:spcBef>
                <a:spcPts val="0"/>
              </a:spcBef>
              <a:buClr>
                <a:schemeClr val="dk1"/>
              </a:buClr>
              <a:buSzPct val="100000"/>
              <a:buFont typeface="+mj-lt"/>
              <a:buAutoNum type="arabicPeriod"/>
            </a:pPr>
            <a:r>
              <a:rPr lang="en-IN" sz="1600" dirty="0"/>
              <a:t>Ullah, X. Chen, K. Rajab, M. Al </a:t>
            </a:r>
            <a:r>
              <a:rPr lang="en-IN" sz="1600" dirty="0" err="1"/>
              <a:t>Reshan</a:t>
            </a:r>
            <a:r>
              <a:rPr lang="en-IN" sz="1600" dirty="0"/>
              <a:t>, A. Shaikh, M. Hassan, M. </a:t>
            </a:r>
            <a:r>
              <a:rPr lang="en-IN" sz="1600" dirty="0" err="1"/>
              <a:t>Rizwan,and</a:t>
            </a:r>
            <a:r>
              <a:rPr lang="en-IN" sz="1600" dirty="0"/>
              <a:t> M. </a:t>
            </a:r>
            <a:r>
              <a:rPr lang="en-IN" sz="1600" dirty="0" err="1"/>
              <a:t>D´avidekov´a</a:t>
            </a:r>
            <a:r>
              <a:rPr lang="en-IN" sz="1600" dirty="0"/>
              <a:t>, “An efficient machine learning model based on improved features selections for early and accurate heart disease predication,” Computational Intelligence and Neuroscience, vol. 2022, pp. 1–12, 07 2022</a:t>
            </a:r>
          </a:p>
          <a:p>
            <a:pPr marL="342900" indent="-342900" algn="just">
              <a:lnSpc>
                <a:spcPct val="100000"/>
              </a:lnSpc>
              <a:spcBef>
                <a:spcPts val="0"/>
              </a:spcBef>
              <a:buClr>
                <a:schemeClr val="dk1"/>
              </a:buClr>
              <a:buSzPct val="100000"/>
              <a:buFont typeface="+mj-lt"/>
              <a:buAutoNum type="arabicPeriod"/>
            </a:pPr>
            <a:r>
              <a:rPr lang="en-IN" sz="1600" dirty="0"/>
              <a:t>G. </a:t>
            </a:r>
            <a:r>
              <a:rPr lang="en-IN" sz="1600" dirty="0" err="1"/>
              <a:t>Sailasya</a:t>
            </a:r>
            <a:r>
              <a:rPr lang="en-IN" sz="1600" dirty="0"/>
              <a:t> and G. Kumari, “</a:t>
            </a:r>
            <a:r>
              <a:rPr lang="en-IN" sz="1600" dirty="0" err="1"/>
              <a:t>Analyzing</a:t>
            </a:r>
            <a:r>
              <a:rPr lang="en-IN" sz="1600" dirty="0"/>
              <a:t> the performance of stroke prediction using ml classification algorithms,” International Journal of Advanced Computer Science and Applications, vol. 12, 01 2021.</a:t>
            </a:r>
          </a:p>
          <a:p>
            <a:pPr marL="342900" indent="-342900" algn="just">
              <a:lnSpc>
                <a:spcPct val="100000"/>
              </a:lnSpc>
              <a:spcBef>
                <a:spcPts val="0"/>
              </a:spcBef>
              <a:buClr>
                <a:schemeClr val="dk1"/>
              </a:buClr>
              <a:buSzPct val="100000"/>
              <a:buFont typeface="+mj-lt"/>
              <a:buAutoNum type="arabicPeriod"/>
            </a:pPr>
            <a:r>
              <a:rPr lang="en-IN" sz="1600" dirty="0"/>
              <a:t>Garg, B. Sharma, and R. Khan, “Heart disease prediction using machine learning techniques,” IOP Conference Series: Materials Science and </a:t>
            </a:r>
            <a:r>
              <a:rPr lang="en-IN" sz="1600" dirty="0" err="1"/>
              <a:t>Engineering,vol</a:t>
            </a:r>
            <a:r>
              <a:rPr lang="en-IN" sz="1600" dirty="0"/>
              <a:t>. 1022, p. 012046, </a:t>
            </a:r>
            <a:r>
              <a:rPr lang="en-IN" sz="1600" dirty="0" err="1"/>
              <a:t>jan</a:t>
            </a:r>
            <a:r>
              <a:rPr lang="en-IN" sz="1600" dirty="0"/>
              <a:t> 2021.</a:t>
            </a:r>
          </a:p>
          <a:p>
            <a:pPr marL="342900" indent="-342900" algn="just">
              <a:lnSpc>
                <a:spcPct val="100000"/>
              </a:lnSpc>
              <a:spcBef>
                <a:spcPts val="0"/>
              </a:spcBef>
              <a:buClr>
                <a:schemeClr val="dk1"/>
              </a:buClr>
              <a:buSzPct val="100000"/>
              <a:buFont typeface="+mj-lt"/>
              <a:buAutoNum type="arabicPeriod"/>
            </a:pPr>
            <a:r>
              <a:rPr lang="en-IN" sz="1600" dirty="0"/>
              <a:t>Townsend, N., </a:t>
            </a:r>
            <a:r>
              <a:rPr lang="en-IN" sz="1600" dirty="0" err="1"/>
              <a:t>Kazakiewicz</a:t>
            </a:r>
            <a:r>
              <a:rPr lang="en-IN" sz="1600" dirty="0"/>
              <a:t>, D., Lucy Wright, F., </a:t>
            </a:r>
            <a:r>
              <a:rPr lang="en-IN" sz="1600" dirty="0" err="1"/>
              <a:t>Timmis</a:t>
            </a:r>
            <a:r>
              <a:rPr lang="en-IN" sz="1600" dirty="0"/>
              <a:t>, A., </a:t>
            </a:r>
            <a:r>
              <a:rPr lang="en-IN" sz="1600" dirty="0" err="1"/>
              <a:t>Huculeci</a:t>
            </a:r>
            <a:r>
              <a:rPr lang="en-IN" sz="1600" dirty="0"/>
              <a:t>, R., </a:t>
            </a:r>
            <a:r>
              <a:rPr lang="en-IN" sz="1600" dirty="0" err="1"/>
              <a:t>Torbica</a:t>
            </a:r>
            <a:r>
              <a:rPr lang="en-IN" sz="1600" dirty="0"/>
              <a:t>, A., ... </a:t>
            </a:r>
            <a:r>
              <a:rPr lang="en-IN" sz="1600" dirty="0" err="1"/>
              <a:t>Vardas</a:t>
            </a:r>
            <a:r>
              <a:rPr lang="en-IN" sz="1600" dirty="0"/>
              <a:t>, P. (2022). Epidemiology of cardiovascular disease in Europe. Nature Reviews Cardiology, 19(2), 133-143.</a:t>
            </a:r>
          </a:p>
          <a:p>
            <a:pPr marL="342900" lvl="0" indent="-342900" algn="just" rtl="0">
              <a:lnSpc>
                <a:spcPct val="100000"/>
              </a:lnSpc>
              <a:spcBef>
                <a:spcPts val="0"/>
              </a:spcBef>
              <a:spcAft>
                <a:spcPts val="0"/>
              </a:spcAft>
              <a:buClr>
                <a:schemeClr val="dk1"/>
              </a:buClr>
              <a:buSzPct val="100000"/>
              <a:buFont typeface="+mj-lt"/>
              <a:buAutoNum type="arabicPeriod"/>
            </a:pPr>
            <a:endParaRPr lang="en-IN" sz="1400" b="0" i="0" dirty="0">
              <a:solidFill>
                <a:srgbClr val="222222"/>
              </a:solidFill>
              <a:effectLst/>
              <a:latin typeface="Times New Roman" panose="02020603050405020304" pitchFamily="18" charset="0"/>
              <a:cs typeface="Times New Roman" panose="02020603050405020304" pitchFamily="18" charset="0"/>
            </a:endParaRPr>
          </a:p>
          <a:p>
            <a:pPr marL="342900" lvl="0" indent="-342900" algn="just" rtl="0">
              <a:lnSpc>
                <a:spcPct val="100000"/>
              </a:lnSpc>
              <a:spcBef>
                <a:spcPts val="0"/>
              </a:spcBef>
              <a:spcAft>
                <a:spcPts val="0"/>
              </a:spcAft>
              <a:buClr>
                <a:schemeClr val="dk1"/>
              </a:buClr>
              <a:buSzPct val="100000"/>
              <a:buFont typeface="+mj-lt"/>
              <a:buAutoNum type="arabicPeriod"/>
            </a:pPr>
            <a:endParaRPr lang="en-IN" sz="1400" b="0" i="0" dirty="0">
              <a:solidFill>
                <a:srgbClr val="222222"/>
              </a:solidFill>
              <a:effectLst/>
              <a:highlight>
                <a:srgbClr val="FFFFFF"/>
              </a:highlight>
              <a:latin typeface="Times New Roman" panose="02020603050405020304" pitchFamily="18" charset="0"/>
              <a:cs typeface="Times New Roman" panose="02020603050405020304" pitchFamily="18" charset="0"/>
            </a:endParaRPr>
          </a:p>
          <a:p>
            <a:pPr marL="0" lvl="0" indent="0" algn="just" rtl="0">
              <a:lnSpc>
                <a:spcPct val="100000"/>
              </a:lnSpc>
              <a:spcBef>
                <a:spcPts val="1000"/>
              </a:spcBef>
              <a:spcAft>
                <a:spcPts val="0"/>
              </a:spcAft>
              <a:buClr>
                <a:schemeClr val="dk1"/>
              </a:buClr>
              <a:buSzPct val="100000"/>
              <a:buNone/>
            </a:pPr>
            <a:endParaRPr lang="en-IN" sz="1600" b="1" dirty="0">
              <a:latin typeface="Times New Roman" panose="02020603050405020304" pitchFamily="18" charset="0"/>
              <a:ea typeface="Lustria"/>
              <a:cs typeface="Times New Roman" panose="02020603050405020304" pitchFamily="18" charset="0"/>
              <a:sym typeface="Lustria"/>
            </a:endParaRPr>
          </a:p>
        </p:txBody>
      </p:sp>
      <p:sp>
        <p:nvSpPr>
          <p:cNvPr id="696" name="Google Shape;696;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24</a:t>
            </a:fld>
            <a:endParaRPr sz="1400" b="1">
              <a:solidFill>
                <a:schemeClr val="dk1"/>
              </a:solidFill>
              <a:latin typeface="Calisto MT" panose="02040603050505030304" pitchFamily="18" charset="0"/>
              <a:ea typeface="Lustria"/>
              <a:cs typeface="Lustria"/>
              <a:sym typeface="Lustri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3">
          <a:extLst>
            <a:ext uri="{FF2B5EF4-FFF2-40B4-BE49-F238E27FC236}">
              <a16:creationId xmlns:a16="http://schemas.microsoft.com/office/drawing/2014/main" id="{FE883CEE-CEA8-D390-DB1F-81C1EAC10953}"/>
            </a:ext>
          </a:extLst>
        </p:cNvPr>
        <p:cNvGrpSpPr/>
        <p:nvPr/>
      </p:nvGrpSpPr>
      <p:grpSpPr>
        <a:xfrm>
          <a:off x="0" y="0"/>
          <a:ext cx="0" cy="0"/>
          <a:chOff x="0" y="0"/>
          <a:chExt cx="0" cy="0"/>
        </a:xfrm>
      </p:grpSpPr>
      <p:sp>
        <p:nvSpPr>
          <p:cNvPr id="694" name="Google Shape;694;p35">
            <a:extLst>
              <a:ext uri="{FF2B5EF4-FFF2-40B4-BE49-F238E27FC236}">
                <a16:creationId xmlns:a16="http://schemas.microsoft.com/office/drawing/2014/main" id="{9307DFAA-6905-7134-B13D-B8ACEBD2199F}"/>
              </a:ext>
            </a:extLst>
          </p:cNvPr>
          <p:cNvSpPr txBox="1">
            <a:spLocks noGrp="1"/>
          </p:cNvSpPr>
          <p:nvPr>
            <p:ph type="title"/>
          </p:nvPr>
        </p:nvSpPr>
        <p:spPr>
          <a:xfrm>
            <a:off x="329937" y="5648"/>
            <a:ext cx="8006303" cy="54927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833C0B"/>
              </a:buClr>
              <a:buSzPct val="100000"/>
              <a:buFont typeface="Lustria"/>
              <a:buNone/>
            </a:pPr>
            <a:r>
              <a:rPr lang="en-US" sz="4000" b="1" dirty="0">
                <a:solidFill>
                  <a:srgbClr val="833C0B"/>
                </a:solidFill>
                <a:latin typeface="Calisto MT" panose="02040603050505030304" pitchFamily="18" charset="0"/>
                <a:ea typeface="Lustria"/>
                <a:cs typeface="Lustria"/>
                <a:sym typeface="Lustria"/>
              </a:rPr>
              <a:t>6. References</a:t>
            </a:r>
            <a:endParaRPr dirty="0">
              <a:latin typeface="Calisto MT" panose="02040603050505030304" pitchFamily="18" charset="0"/>
            </a:endParaRPr>
          </a:p>
        </p:txBody>
      </p:sp>
      <p:sp>
        <p:nvSpPr>
          <p:cNvPr id="695" name="Google Shape;695;p35">
            <a:extLst>
              <a:ext uri="{FF2B5EF4-FFF2-40B4-BE49-F238E27FC236}">
                <a16:creationId xmlns:a16="http://schemas.microsoft.com/office/drawing/2014/main" id="{47C40B97-3478-7032-690C-509E44977513}"/>
              </a:ext>
            </a:extLst>
          </p:cNvPr>
          <p:cNvSpPr txBox="1">
            <a:spLocks noGrp="1"/>
          </p:cNvSpPr>
          <p:nvPr>
            <p:ph type="body" idx="1"/>
          </p:nvPr>
        </p:nvSpPr>
        <p:spPr>
          <a:xfrm>
            <a:off x="329938" y="554921"/>
            <a:ext cx="8006303" cy="5748157"/>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chemeClr val="dk1"/>
              </a:buClr>
              <a:buSzPct val="100000"/>
              <a:buFont typeface="+mj-lt"/>
              <a:buAutoNum type="arabicPeriod"/>
            </a:pPr>
            <a:endParaRPr lang="en-IN" sz="1400" b="0" i="0" dirty="0">
              <a:solidFill>
                <a:srgbClr val="222222"/>
              </a:solidFill>
              <a:effectLst/>
              <a:latin typeface="Times New Roman" panose="02020603050405020304" pitchFamily="18" charset="0"/>
              <a:cs typeface="Times New Roman" panose="02020603050405020304" pitchFamily="18" charset="0"/>
            </a:endParaRPr>
          </a:p>
          <a:p>
            <a:pPr marL="342900" indent="-342900" algn="just">
              <a:lnSpc>
                <a:spcPct val="100000"/>
              </a:lnSpc>
              <a:spcBef>
                <a:spcPts val="0"/>
              </a:spcBef>
              <a:buClr>
                <a:schemeClr val="dk1"/>
              </a:buClr>
              <a:buSzPct val="100000"/>
              <a:buFont typeface="+mj-lt"/>
              <a:buAutoNum type="arabicPeriod" startAt="8"/>
            </a:pPr>
            <a:r>
              <a:rPr lang="en-IN" sz="1800" dirty="0"/>
              <a:t>Jankowski,  J.,  </a:t>
            </a:r>
            <a:r>
              <a:rPr lang="en-IN" sz="1800" dirty="0" err="1"/>
              <a:t>Floege</a:t>
            </a:r>
            <a:r>
              <a:rPr lang="en-IN" sz="1800" dirty="0"/>
              <a:t>,  J.,  </a:t>
            </a:r>
            <a:r>
              <a:rPr lang="en-IN" sz="1800" dirty="0" err="1"/>
              <a:t>Fliser</a:t>
            </a:r>
            <a:r>
              <a:rPr lang="en-IN" sz="1800" dirty="0"/>
              <a:t>,  D.,  </a:t>
            </a:r>
            <a:r>
              <a:rPr lang="en-IN" sz="1800" dirty="0" err="1"/>
              <a:t>Bo¨hm</a:t>
            </a:r>
            <a:r>
              <a:rPr lang="en-IN" sz="1800" dirty="0"/>
              <a:t>,  M.,   Marx,  N.  (2021).  Cardiovascular  disease  in  chronic  kidney  disease:  pathophysiological  insights  and therapeutic options. Circulation, 143(11), 1157-1172.</a:t>
            </a:r>
          </a:p>
          <a:p>
            <a:pPr marL="342900" indent="-342900" algn="just">
              <a:lnSpc>
                <a:spcPct val="100000"/>
              </a:lnSpc>
              <a:spcBef>
                <a:spcPts val="0"/>
              </a:spcBef>
              <a:buClr>
                <a:schemeClr val="dk1"/>
              </a:buClr>
              <a:buSzPct val="100000"/>
              <a:buFont typeface="+mj-lt"/>
              <a:buAutoNum type="arabicPeriod" startAt="8"/>
            </a:pPr>
            <a:r>
              <a:rPr lang="en-IN" sz="1800" dirty="0" err="1"/>
              <a:t>Timmis</a:t>
            </a:r>
            <a:r>
              <a:rPr lang="en-IN" sz="1800" dirty="0"/>
              <a:t>, A., </a:t>
            </a:r>
            <a:r>
              <a:rPr lang="en-IN" sz="1800" dirty="0" err="1"/>
              <a:t>Vardas</a:t>
            </a:r>
            <a:r>
              <a:rPr lang="en-IN" sz="1800" dirty="0"/>
              <a:t>, P., Townsend, N., </a:t>
            </a:r>
            <a:r>
              <a:rPr lang="en-IN" sz="1800" dirty="0" err="1"/>
              <a:t>Torbica</a:t>
            </a:r>
            <a:r>
              <a:rPr lang="en-IN" sz="1800" dirty="0"/>
              <a:t>, A., </a:t>
            </a:r>
            <a:r>
              <a:rPr lang="en-IN" sz="1800" dirty="0" err="1"/>
              <a:t>Katus</a:t>
            </a:r>
            <a:r>
              <a:rPr lang="en-IN" sz="1800" dirty="0"/>
              <a:t>, H., De </a:t>
            </a:r>
            <a:r>
              <a:rPr lang="en-IN" sz="1800" dirty="0" err="1"/>
              <a:t>Smedt</a:t>
            </a:r>
            <a:r>
              <a:rPr lang="en-IN" sz="1800" dirty="0"/>
              <a:t>, D., ... Achenbach, S. (2022). European Society of Cardiology: cardiovascular disease statistics 2021. European heart journal, 43(8), 716-799.</a:t>
            </a:r>
          </a:p>
          <a:p>
            <a:pPr marL="342900" indent="-342900" algn="just">
              <a:lnSpc>
                <a:spcPct val="100000"/>
              </a:lnSpc>
              <a:spcBef>
                <a:spcPts val="0"/>
              </a:spcBef>
              <a:buClr>
                <a:schemeClr val="dk1"/>
              </a:buClr>
              <a:buSzPct val="100000"/>
              <a:buFont typeface="+mj-lt"/>
              <a:buAutoNum type="arabicPeriod" startAt="8"/>
            </a:pPr>
            <a:r>
              <a:rPr lang="en-IN" sz="1800" dirty="0"/>
              <a:t>Hill, M. A., Yang, Y., Zhang, L., Sun, Z., Jia, G., Parrish, A. R., Sowers, J. R. (2021). Insulin resistance, cardiovascular stiffening and cardiovascular disease. Metabolism, 119, 154766.</a:t>
            </a:r>
          </a:p>
          <a:p>
            <a:pPr marL="342900" indent="-342900" algn="just">
              <a:lnSpc>
                <a:spcPct val="100000"/>
              </a:lnSpc>
              <a:spcBef>
                <a:spcPts val="0"/>
              </a:spcBef>
              <a:buClr>
                <a:schemeClr val="dk1"/>
              </a:buClr>
              <a:buSzPct val="100000"/>
              <a:buFont typeface="+mj-lt"/>
              <a:buAutoNum type="arabicPeriod" startAt="8"/>
            </a:pPr>
            <a:r>
              <a:rPr lang="en-IN" sz="1800" dirty="0"/>
              <a:t>11.	Matsushita, K., Ballew, S. H., Wang, A. Y. M., </a:t>
            </a:r>
            <a:r>
              <a:rPr lang="en-IN" sz="1800" dirty="0" err="1"/>
              <a:t>Kalyesubula</a:t>
            </a:r>
            <a:r>
              <a:rPr lang="en-IN" sz="1800" dirty="0"/>
              <a:t>, R., </a:t>
            </a:r>
            <a:r>
              <a:rPr lang="en-IN" sz="1800" dirty="0" err="1"/>
              <a:t>Schaeffner</a:t>
            </a:r>
            <a:r>
              <a:rPr lang="en-IN" sz="1800" dirty="0"/>
              <a:t>, E., Agarwal, R. (2022). Epidemiology and risk of cardiovascular disease in populations with chronic kidney disease. Nature Reviews Nephrology, 18(11), 696-707.</a:t>
            </a:r>
          </a:p>
          <a:p>
            <a:pPr marL="342900" indent="-342900" algn="just">
              <a:lnSpc>
                <a:spcPct val="100000"/>
              </a:lnSpc>
              <a:spcBef>
                <a:spcPts val="0"/>
              </a:spcBef>
              <a:buClr>
                <a:schemeClr val="dk1"/>
              </a:buClr>
              <a:buSzPct val="100000"/>
              <a:buFont typeface="+mj-lt"/>
              <a:buAutoNum type="arabicPeriod" startAt="8"/>
            </a:pPr>
            <a:r>
              <a:rPr lang="en-IN" sz="1800" dirty="0"/>
              <a:t>Vogel, B., Acevedo, M., Appelman, Y., Merz, C. N. B., </a:t>
            </a:r>
            <a:r>
              <a:rPr lang="en-IN" sz="1800" dirty="0" err="1"/>
              <a:t>Chieffo</a:t>
            </a:r>
            <a:r>
              <a:rPr lang="en-IN" sz="1800" dirty="0"/>
              <a:t>, A., Figtree, G. A., ... Mehran, R. (2021). The Lancet women and cardiovascular disease Commission: reducing the global burden by 2030. The Lancet, 397(10292), 2385-2438.</a:t>
            </a:r>
          </a:p>
          <a:p>
            <a:pPr marL="342900" indent="-342900" algn="just">
              <a:lnSpc>
                <a:spcPct val="100000"/>
              </a:lnSpc>
              <a:spcBef>
                <a:spcPts val="0"/>
              </a:spcBef>
              <a:buClr>
                <a:schemeClr val="dk1"/>
              </a:buClr>
              <a:buSzPct val="100000"/>
              <a:buFont typeface="+mj-lt"/>
              <a:buAutoNum type="arabicPeriod" startAt="8"/>
            </a:pPr>
            <a:r>
              <a:rPr lang="en-IN" sz="1800" dirty="0"/>
              <a:t>Joshi, A., Rienks, M., </a:t>
            </a:r>
            <a:r>
              <a:rPr lang="en-IN" sz="1800" dirty="0" err="1"/>
              <a:t>Theofilatos</a:t>
            </a:r>
            <a:r>
              <a:rPr lang="en-IN" sz="1800" dirty="0"/>
              <a:t>, K., Mayr, M. (2021). Systems biology in cardiovascular disease: a </a:t>
            </a:r>
            <a:r>
              <a:rPr lang="en-IN" sz="1800" dirty="0" err="1"/>
              <a:t>multiomics</a:t>
            </a:r>
            <a:r>
              <a:rPr lang="en-IN" sz="1800" dirty="0"/>
              <a:t> approach. Nature Reviews Cardiology, 18(5), 313-330.</a:t>
            </a:r>
          </a:p>
          <a:p>
            <a:pPr marL="342900" lvl="0" indent="-342900" algn="just" rtl="0">
              <a:lnSpc>
                <a:spcPct val="100000"/>
              </a:lnSpc>
              <a:spcBef>
                <a:spcPts val="0"/>
              </a:spcBef>
              <a:spcAft>
                <a:spcPts val="0"/>
              </a:spcAft>
              <a:buClr>
                <a:schemeClr val="dk1"/>
              </a:buClr>
              <a:buSzPct val="100000"/>
              <a:buFont typeface="+mj-lt"/>
              <a:buAutoNum type="arabicPeriod"/>
            </a:pPr>
            <a:endParaRPr lang="en-IN" sz="1400" b="0" i="0" dirty="0">
              <a:solidFill>
                <a:srgbClr val="222222"/>
              </a:solidFill>
              <a:effectLst/>
              <a:latin typeface="Times New Roman" panose="02020603050405020304" pitchFamily="18" charset="0"/>
              <a:cs typeface="Times New Roman" panose="02020603050405020304" pitchFamily="18" charset="0"/>
            </a:endParaRPr>
          </a:p>
          <a:p>
            <a:pPr marL="342900" lvl="0" indent="-342900" algn="just" rtl="0">
              <a:lnSpc>
                <a:spcPct val="100000"/>
              </a:lnSpc>
              <a:spcBef>
                <a:spcPts val="0"/>
              </a:spcBef>
              <a:spcAft>
                <a:spcPts val="0"/>
              </a:spcAft>
              <a:buClr>
                <a:schemeClr val="dk1"/>
              </a:buClr>
              <a:buSzPct val="100000"/>
              <a:buFont typeface="+mj-lt"/>
              <a:buAutoNum type="arabicPeriod"/>
            </a:pPr>
            <a:endParaRPr lang="en-IN" sz="1400" b="0" i="0" dirty="0">
              <a:solidFill>
                <a:srgbClr val="222222"/>
              </a:solidFill>
              <a:effectLst/>
              <a:highlight>
                <a:srgbClr val="FFFFFF"/>
              </a:highlight>
              <a:latin typeface="Times New Roman" panose="02020603050405020304" pitchFamily="18" charset="0"/>
              <a:cs typeface="Times New Roman" panose="02020603050405020304" pitchFamily="18" charset="0"/>
            </a:endParaRPr>
          </a:p>
          <a:p>
            <a:pPr marL="0" lvl="0" indent="0" algn="just" rtl="0">
              <a:lnSpc>
                <a:spcPct val="100000"/>
              </a:lnSpc>
              <a:spcBef>
                <a:spcPts val="1000"/>
              </a:spcBef>
              <a:spcAft>
                <a:spcPts val="0"/>
              </a:spcAft>
              <a:buClr>
                <a:schemeClr val="dk1"/>
              </a:buClr>
              <a:buSzPct val="100000"/>
              <a:buNone/>
            </a:pPr>
            <a:endParaRPr lang="en-IN" sz="1600" b="1" dirty="0">
              <a:latin typeface="Times New Roman" panose="02020603050405020304" pitchFamily="18" charset="0"/>
              <a:ea typeface="Lustria"/>
              <a:cs typeface="Times New Roman" panose="02020603050405020304" pitchFamily="18" charset="0"/>
              <a:sym typeface="Lustria"/>
            </a:endParaRPr>
          </a:p>
        </p:txBody>
      </p:sp>
      <p:sp>
        <p:nvSpPr>
          <p:cNvPr id="696" name="Google Shape;696;p35">
            <a:extLst>
              <a:ext uri="{FF2B5EF4-FFF2-40B4-BE49-F238E27FC236}">
                <a16:creationId xmlns:a16="http://schemas.microsoft.com/office/drawing/2014/main" id="{FEF28FD0-3EDD-8AF0-BABB-E3B812DD01B0}"/>
              </a:ext>
            </a:extLst>
          </p:cNvPr>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400" b="1">
                <a:solidFill>
                  <a:schemeClr val="dk1"/>
                </a:solidFill>
                <a:latin typeface="Calisto MT" panose="02040603050505030304" pitchFamily="18" charset="0"/>
                <a:ea typeface="Lustria"/>
                <a:cs typeface="Lustria"/>
                <a:sym typeface="Lustria"/>
              </a:rPr>
              <a:t>25</a:t>
            </a:fld>
            <a:endParaRPr sz="1400" b="1">
              <a:solidFill>
                <a:schemeClr val="dk1"/>
              </a:solidFill>
              <a:latin typeface="Calisto MT" panose="02040603050505030304" pitchFamily="18" charset="0"/>
              <a:ea typeface="Lustria"/>
              <a:cs typeface="Lustria"/>
              <a:sym typeface="Lustria"/>
            </a:endParaRPr>
          </a:p>
        </p:txBody>
      </p:sp>
    </p:spTree>
    <p:extLst>
      <p:ext uri="{BB962C8B-B14F-4D97-AF65-F5344CB8AC3E}">
        <p14:creationId xmlns:p14="http://schemas.microsoft.com/office/powerpoint/2010/main" val="25899129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3393</TotalTime>
  <Words>2593</Words>
  <Application>Microsoft Office PowerPoint</Application>
  <PresentationFormat>On-screen Show (4:3)</PresentationFormat>
  <Paragraphs>133</Paragraphs>
  <Slides>25</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Calibri Light</vt:lpstr>
      <vt:lpstr>Calisto MT</vt:lpstr>
      <vt:lpstr>Cambria</vt:lpstr>
      <vt:lpstr>Lustria</vt:lpstr>
      <vt:lpstr>Times New Roman</vt:lpstr>
      <vt:lpstr>Office Theme</vt:lpstr>
      <vt:lpstr>9th International Conference on Micro-Electronics, Electromagnetics and Telecommunications</vt:lpstr>
      <vt:lpstr>Abstract</vt:lpstr>
      <vt:lpstr>Presentation Outline</vt:lpstr>
      <vt:lpstr>Introduction</vt:lpstr>
      <vt:lpstr>Introduction </vt:lpstr>
      <vt:lpstr>Introduction </vt:lpstr>
      <vt:lpstr>Introduction </vt:lpstr>
      <vt:lpstr>2.  RELATED WORK</vt:lpstr>
      <vt:lpstr>2. RELATED WORK</vt:lpstr>
      <vt:lpstr>2. RELATED WORK</vt:lpstr>
      <vt:lpstr>3. Proposed Methodology</vt:lpstr>
      <vt:lpstr>3. Proposed Methodology</vt:lpstr>
      <vt:lpstr>3. Proposed Methodology</vt:lpstr>
      <vt:lpstr>3. Proposed Methodology</vt:lpstr>
      <vt:lpstr>3. Proposed Methodology</vt:lpstr>
      <vt:lpstr>3. Proposed Methodology</vt:lpstr>
      <vt:lpstr>3. Proposed Methodology</vt:lpstr>
      <vt:lpstr>3. Proposed Methodology</vt:lpstr>
      <vt:lpstr>4. RESULTS</vt:lpstr>
      <vt:lpstr>4. RESULTS</vt:lpstr>
      <vt:lpstr>4. RESULTS</vt:lpstr>
      <vt:lpstr> 4. RESULTS</vt:lpstr>
      <vt:lpstr>5.  CONCLUSION</vt:lpstr>
      <vt:lpstr>6. References</vt:lpstr>
      <vt:lpstr>6.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dc:title>
  <dc:creator>ashutosh satapathy</dc:creator>
  <cp:lastModifiedBy>Lokesh Chowdari</cp:lastModifiedBy>
  <cp:revision>387</cp:revision>
  <dcterms:created xsi:type="dcterms:W3CDTF">2023-03-25T12:51:43Z</dcterms:created>
  <dcterms:modified xsi:type="dcterms:W3CDTF">2024-12-18T06:27:09Z</dcterms:modified>
</cp:coreProperties>
</file>